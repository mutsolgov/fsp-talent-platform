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517155021287253"/>
          <c:y val="0.12693219923121"/>
          <c:w val="0.926058101677936"/>
          <c:h val="0.6674572667048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FF0053"/>
            </a:solidFill>
            <a:ln w="6336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bg1"/>
                    </a:solidFill>
                    <a:uFillTx/>
                    <a:latin typeface="Montserra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FFD6E3"/>
            </a:solidFill>
            <a:ln w="6336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bg1"/>
                    </a:solidFill>
                    <a:uFillTx/>
                    <a:latin typeface="Montserra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gapWidth val="100"/>
        <c:overlap val="-20"/>
        <c:axId val="81075237"/>
        <c:axId val="25516229"/>
      </c:barChart>
      <c:catAx>
        <c:axId val="8107523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chemeClr val="dk1">
                <a:lumMod val="15000"/>
                <a:lumOff val="85000"/>
              </a:schemeClr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chemeClr val="bg1"/>
                </a:solidFill>
                <a:uFillTx/>
                <a:latin typeface="Montserrat"/>
              </a:defRPr>
            </a:pPr>
          </a:p>
        </c:txPr>
        <c:crossAx val="25516229"/>
        <c:crosses val="autoZero"/>
        <c:auto val="1"/>
        <c:lblAlgn val="ctr"/>
        <c:lblOffset val="100"/>
        <c:noMultiLvlLbl val="0"/>
      </c:catAx>
      <c:valAx>
        <c:axId val="25516229"/>
        <c:scaling>
          <c:orientation val="minMax"/>
        </c:scaling>
        <c:delete val="0"/>
        <c:axPos val="l"/>
        <c:majorGridlines>
          <c:spPr>
            <a:ln w="9360">
              <a:solidFill>
                <a:schemeClr val="lt1">
                  <a:alpha val="50000"/>
                </a:scheme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chemeClr val="bg1"/>
                </a:solidFill>
                <a:uFillTx/>
                <a:latin typeface="Montserrat"/>
              </a:defRPr>
            </a:pPr>
          </a:p>
        </c:txPr>
        <c:crossAx val="81075237"/>
        <c:crosses val="autoZero"/>
        <c:crossBetween val="between"/>
        <c:majorUnit val="1"/>
      </c:valAx>
      <c:spPr>
        <a:noFill/>
        <a:ln w="25560">
          <a:noFill/>
        </a:ln>
      </c:spPr>
    </c:plotArea>
    <c:legend>
      <c:legendPos val="b"/>
      <c:layout>
        <c:manualLayout>
          <c:xMode val="edge"/>
          <c:yMode val="edge"/>
          <c:x val="0.030340673321854"/>
          <c:y val="0.938200742857347"/>
          <c:w val="0.947400558394266"/>
          <c:h val="0.0617992571426531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sz="1197" b="0" u="none" strike="noStrike">
              <a:solidFill>
                <a:schemeClr val="bg1"/>
              </a:solidFill>
              <a:uFillTx/>
              <a:latin typeface="Montserrat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1351114450288"/>
          <c:y val="0.12693219923121"/>
          <c:w val="0.86419984973704"/>
          <c:h val="0.667457266704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FFD6E3"/>
            </a:solidFill>
            <a:ln w="63360">
              <a:solidFill>
                <a:schemeClr val="accent2"/>
              </a:solidFill>
              <a:round/>
            </a:ln>
          </c:spPr>
          <c:invertIfNegative val="0"/>
          <c:dPt>
            <c:idx val="0"/>
            <c:invertIfNegative val="0"/>
            <c:spPr>
              <a:solidFill>
                <a:srgbClr val="FFD6E3"/>
              </a:solidFill>
              <a:ln w="63360">
                <a:noFill/>
              </a:ln>
            </c:spPr>
          </c:dPt>
          <c:dPt>
            <c:idx val="1"/>
            <c:invertIfNegative val="0"/>
            <c:spPr>
              <a:solidFill>
                <a:srgbClr val="8A83D1"/>
              </a:solidFill>
              <a:ln w="63360">
                <a:noFill/>
              </a:ln>
            </c:spPr>
          </c:dPt>
          <c:dPt>
            <c:idx val="2"/>
            <c:invertIfNegative val="0"/>
            <c:spPr>
              <a:solidFill>
                <a:srgbClr val="520977"/>
              </a:solidFill>
              <a:ln w="63360">
                <a:noFill/>
              </a:ln>
            </c:spPr>
          </c:dPt>
          <c:dPt>
            <c:idx val="3"/>
            <c:invertIfNegative val="0"/>
            <c:spPr>
              <a:solidFill>
                <a:srgbClr val="FF0053"/>
              </a:solidFill>
              <a:ln w="6336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Montserra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Montserra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Montserra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sz="1000" b="0" u="none" strike="noStrike">
                      <a:solidFill>
                        <a:schemeClr val="tx1"/>
                      </a:solidFill>
                      <a:uFillTx/>
                      <a:latin typeface="Montserrat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sz="1000" b="0" u="none" strike="noStrike">
                    <a:solidFill>
                      <a:schemeClr val="tx1"/>
                    </a:solidFill>
                    <a:uFillTx/>
                    <a:latin typeface="Montserrat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chemeClr val="accent2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gapWidth val="100"/>
        <c:overlap val="0"/>
        <c:axId val="56008358"/>
        <c:axId val="59906393"/>
      </c:barChart>
      <c:catAx>
        <c:axId val="5600835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chemeClr val="dk1">
                <a:lumMod val="15000"/>
                <a:lumOff val="85000"/>
              </a:schemeClr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chemeClr val="tx1"/>
                </a:solidFill>
                <a:uFillTx/>
                <a:latin typeface="Montserrat"/>
              </a:defRPr>
            </a:pPr>
          </a:p>
        </c:txPr>
        <c:crossAx val="59906393"/>
        <c:crosses val="autoZero"/>
        <c:auto val="1"/>
        <c:lblAlgn val="ctr"/>
        <c:lblOffset val="100"/>
        <c:noMultiLvlLbl val="0"/>
      </c:catAx>
      <c:valAx>
        <c:axId val="59906393"/>
        <c:scaling>
          <c:orientation val="minMax"/>
        </c:scaling>
        <c:delete val="0"/>
        <c:axPos val="l"/>
        <c:majorGridlines>
          <c:spPr>
            <a:ln w="9360">
              <a:solidFill>
                <a:srgbClr val="000000">
                  <a:alpha val="50000"/>
                </a:srgb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chemeClr val="tx1"/>
                </a:solidFill>
                <a:uFillTx/>
                <a:latin typeface="Montserrat"/>
              </a:defRPr>
            </a:pPr>
          </a:p>
        </c:txPr>
        <c:crossAx val="56008358"/>
        <c:crosses val="autoZero"/>
        <c:crossBetween val="between"/>
        <c:majorUnit val="1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>
      <a:schemeClr val="dk1">
        <a:lumMod val="65000"/>
        <a:lumOff val="35000"/>
      </a:schemeClr>
    </cs:fontRef>
    <a:defRPr sz="1330" b="0" u="none" strike="noStrike">
      <a:uFillTx/>
    </a:defRPr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>
      <a:schemeClr val="dk1">
        <a:lumMod val="65000"/>
        <a:lumOff val="35000"/>
      </a:schemeClr>
    </cs:fontRef>
    <a:defRPr sz="1330" b="0" u="none" strike="noStrike">
      <a:uFillTx/>
    </a:defRPr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578880">
              <a:lnSpc>
                <a:spcPct val="90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перемещения страницы щёлкните мышью</a:t>
            </a:r>
            <a:endParaRPr lang="ru-RU" sz="28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dt" idx="6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ftr" idx="6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sldNum" idx="6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CEBC02B-629C-4E5E-A431-64F1463EAE4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43A54C-AAAB-40B3-8EAD-9F1A6B54CED4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1FD033-958B-4770-98D4-575E21A080FC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8DD8C28-1E70-453B-893F-EF10F2842B99}" type="slidenum"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 hasCustomPrompt="1"/>
          </p:nvPr>
        </p:nvSpPr>
        <p:spPr>
          <a:xfrm>
            <a:off x="6792120" y="395280"/>
            <a:ext cx="5399640" cy="5399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Иконка задачи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 hasCustomPrompt="1"/>
          </p:nvPr>
        </p:nvSpPr>
        <p:spPr>
          <a:xfrm>
            <a:off x="0" y="4323600"/>
            <a:ext cx="8930160" cy="82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712800" algn="l" defTabSz="578880">
              <a:lnSpc>
                <a:spcPct val="90000"/>
              </a:lnSpc>
              <a:buNone/>
              <a:tabLst>
                <a:tab pos="0" algn="l"/>
              </a:tabLst>
              <a:def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НАЗВАНИЕ КОМАНДЫ</a:t>
            </a:r>
            <a:endParaRPr lang="ru-RU" sz="28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 hasCustomPrompt="1"/>
          </p:nvPr>
        </p:nvSpPr>
        <p:spPr>
          <a:xfrm>
            <a:off x="802800" y="2912040"/>
            <a:ext cx="3386520" cy="108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Логотип/логотипы постановщика задачи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5149800"/>
            <a:ext cx="8930160" cy="756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71280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 и название задачи</a:t>
            </a:r>
            <a:endParaRPr lang="ru-RU" sz="16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 hasCustomPrompt="1"/>
          </p:nvPr>
        </p:nvSpPr>
        <p:spPr>
          <a:xfrm>
            <a:off x="802800" y="3922560"/>
            <a:ext cx="5293080" cy="165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ОБРАЗЕЦ ЗАГОЛОВКА</a:t>
            </a:r>
            <a:endParaRPr lang="ru-RU" sz="28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106BDAA-69EA-42EE-A7AA-1BCA43C0ECB7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одержание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dt" idx="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0DAFB3A-398C-491C-B2DC-DF085950987E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 hasCustomPrompt="1"/>
          </p:nvPr>
        </p:nvSpPr>
        <p:spPr>
          <a:xfrm>
            <a:off x="187344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 hasCustomPrompt="1"/>
          </p:nvPr>
        </p:nvSpPr>
        <p:spPr>
          <a:xfrm>
            <a:off x="187344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body" hasCustomPrompt="1"/>
          </p:nvPr>
        </p:nvSpPr>
        <p:spPr>
          <a:xfrm>
            <a:off x="185436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</a:t>
            </a: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16" name="PlaceHolder 7"/>
          <p:cNvSpPr>
            <a:spLocks noGrp="1"/>
          </p:cNvSpPr>
          <p:nvPr>
            <p:ph type="body" hasCustomPrompt="1"/>
          </p:nvPr>
        </p:nvSpPr>
        <p:spPr>
          <a:xfrm>
            <a:off x="185436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7" name="PlaceHolder 8"/>
          <p:cNvSpPr>
            <a:spLocks noGrp="1"/>
          </p:cNvSpPr>
          <p:nvPr>
            <p:ph type="body" hasCustomPrompt="1"/>
          </p:nvPr>
        </p:nvSpPr>
        <p:spPr>
          <a:xfrm>
            <a:off x="185436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18" name="PlaceHolder 9"/>
          <p:cNvSpPr>
            <a:spLocks noGrp="1"/>
          </p:cNvSpPr>
          <p:nvPr>
            <p:ph type="body" hasCustomPrompt="1"/>
          </p:nvPr>
        </p:nvSpPr>
        <p:spPr>
          <a:xfrm>
            <a:off x="185436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9" name="PlaceHolder 10"/>
          <p:cNvSpPr>
            <a:spLocks noGrp="1"/>
          </p:cNvSpPr>
          <p:nvPr>
            <p:ph type="body" hasCustomPrompt="1"/>
          </p:nvPr>
        </p:nvSpPr>
        <p:spPr>
          <a:xfrm>
            <a:off x="7546680" y="1222560"/>
            <a:ext cx="3866400" cy="4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0" name="PlaceHolder 11"/>
          <p:cNvSpPr>
            <a:spLocks noGrp="1"/>
          </p:cNvSpPr>
          <p:nvPr>
            <p:ph type="body" hasCustomPrompt="1"/>
          </p:nvPr>
        </p:nvSpPr>
        <p:spPr>
          <a:xfrm>
            <a:off x="7546680" y="1790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1" name="PlaceHolder 12"/>
          <p:cNvSpPr>
            <a:spLocks noGrp="1"/>
          </p:cNvSpPr>
          <p:nvPr>
            <p:ph type="body" hasCustomPrompt="1"/>
          </p:nvPr>
        </p:nvSpPr>
        <p:spPr>
          <a:xfrm>
            <a:off x="7527240" y="2826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2" name="PlaceHolder 13"/>
          <p:cNvSpPr>
            <a:spLocks noGrp="1"/>
          </p:cNvSpPr>
          <p:nvPr>
            <p:ph type="body" hasCustomPrompt="1"/>
          </p:nvPr>
        </p:nvSpPr>
        <p:spPr>
          <a:xfrm>
            <a:off x="7527240" y="337428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3" name="PlaceHolder 14"/>
          <p:cNvSpPr>
            <a:spLocks noGrp="1"/>
          </p:cNvSpPr>
          <p:nvPr>
            <p:ph type="body" hasCustomPrompt="1"/>
          </p:nvPr>
        </p:nvSpPr>
        <p:spPr>
          <a:xfrm>
            <a:off x="7527240" y="4410720"/>
            <a:ext cx="386640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Заголовок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4" name="PlaceHolder 15"/>
          <p:cNvSpPr>
            <a:spLocks noGrp="1"/>
          </p:cNvSpPr>
          <p:nvPr>
            <p:ph type="body" hasCustomPrompt="1"/>
          </p:nvPr>
        </p:nvSpPr>
        <p:spPr>
          <a:xfrm>
            <a:off x="7527240" y="4958640"/>
            <a:ext cx="3866400" cy="67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Описание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5" name="PlaceHolder 1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ОБРАЗЕЦ ЗАГОЛОВКА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6" name="PlaceHolder 17"/>
          <p:cNvSpPr>
            <a:spLocks noGrp="1"/>
          </p:cNvSpPr>
          <p:nvPr>
            <p:ph type="body" hasCustomPrompt="1"/>
          </p:nvPr>
        </p:nvSpPr>
        <p:spPr>
          <a:xfrm>
            <a:off x="77832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01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7" name="PlaceHolder 18"/>
          <p:cNvSpPr>
            <a:spLocks noGrp="1"/>
          </p:cNvSpPr>
          <p:nvPr>
            <p:ph type="body" hasCustomPrompt="1"/>
          </p:nvPr>
        </p:nvSpPr>
        <p:spPr>
          <a:xfrm>
            <a:off x="75924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02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8" name="PlaceHolder 19"/>
          <p:cNvSpPr>
            <a:spLocks noGrp="1"/>
          </p:cNvSpPr>
          <p:nvPr>
            <p:ph type="body" hasCustomPrompt="1"/>
          </p:nvPr>
        </p:nvSpPr>
        <p:spPr>
          <a:xfrm>
            <a:off x="75924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03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" name="PlaceHolder 20"/>
          <p:cNvSpPr>
            <a:spLocks noGrp="1"/>
          </p:cNvSpPr>
          <p:nvPr>
            <p:ph type="body" hasCustomPrompt="1"/>
          </p:nvPr>
        </p:nvSpPr>
        <p:spPr>
          <a:xfrm>
            <a:off x="6451560" y="1188000"/>
            <a:ext cx="770760" cy="42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04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" name="PlaceHolder 21"/>
          <p:cNvSpPr>
            <a:spLocks noGrp="1"/>
          </p:cNvSpPr>
          <p:nvPr>
            <p:ph type="body" hasCustomPrompt="1"/>
          </p:nvPr>
        </p:nvSpPr>
        <p:spPr>
          <a:xfrm>
            <a:off x="6432120" y="279180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05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" name="PlaceHolder 22"/>
          <p:cNvSpPr>
            <a:spLocks noGrp="1"/>
          </p:cNvSpPr>
          <p:nvPr>
            <p:ph type="body" hasCustomPrompt="1"/>
          </p:nvPr>
        </p:nvSpPr>
        <p:spPr>
          <a:xfrm>
            <a:off x="6432120" y="4376160"/>
            <a:ext cx="77076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800" b="0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06</a:t>
            </a:r>
            <a:endParaRPr lang="ru-RU" sz="28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графи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dt" idx="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ftr" idx="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681B3B35-F124-4398-BA37-808C107C60C8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3726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7440120" y="1015920"/>
            <a:ext cx="4405320" cy="307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572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9144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7124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2844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28564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74248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7440120" y="4389120"/>
            <a:ext cx="4405320" cy="1811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572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9144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7124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2844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28564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74248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345960" y="3223800"/>
            <a:ext cx="6805800" cy="2976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572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9144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7124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2844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28564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74248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body"/>
          </p:nvPr>
        </p:nvSpPr>
        <p:spPr>
          <a:xfrm>
            <a:off x="345960" y="1015920"/>
            <a:ext cx="6805800" cy="2029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нкты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dt" idx="1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ftr" idx="1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 hasCustomPrompt="1"/>
          </p:nvPr>
        </p:nvSpPr>
        <p:spPr>
          <a:xfrm>
            <a:off x="1994400" y="2973600"/>
            <a:ext cx="2190600" cy="91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Текст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662880" y="158796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6662880" y="244512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662880" y="33022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body"/>
          </p:nvPr>
        </p:nvSpPr>
        <p:spPr>
          <a:xfrm>
            <a:off x="6662880" y="415908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8" name="PlaceHolder 9"/>
          <p:cNvSpPr>
            <a:spLocks noGrp="1"/>
          </p:cNvSpPr>
          <p:nvPr>
            <p:ph type="body"/>
          </p:nvPr>
        </p:nvSpPr>
        <p:spPr>
          <a:xfrm>
            <a:off x="6662880" y="5016240"/>
            <a:ext cx="4901760" cy="7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тистик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1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1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E22F5405-22BE-4F69-9E45-14E7780AB40F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3610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заглавия щёлкните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53" name="Текст 35"/>
          <p:cNvSpPr/>
          <p:nvPr/>
        </p:nvSpPr>
        <p:spPr>
          <a:xfrm>
            <a:off x="6683040" y="102672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683040" y="162684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55" name="Текст 35"/>
          <p:cNvSpPr/>
          <p:nvPr/>
        </p:nvSpPr>
        <p:spPr>
          <a:xfrm>
            <a:off x="6683040" y="280764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body"/>
          </p:nvPr>
        </p:nvSpPr>
        <p:spPr>
          <a:xfrm>
            <a:off x="6683040" y="340776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57" name="Текст 35"/>
          <p:cNvSpPr/>
          <p:nvPr/>
        </p:nvSpPr>
        <p:spPr>
          <a:xfrm>
            <a:off x="6683040" y="4583880"/>
            <a:ext cx="4789800" cy="16149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body"/>
          </p:nvPr>
        </p:nvSpPr>
        <p:spPr>
          <a:xfrm>
            <a:off x="6683040" y="5184000"/>
            <a:ext cx="4789800" cy="101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татистик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dt" idx="1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ftr" idx="1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87DF90A-D26F-4419-A073-C21C160CB4ED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349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л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я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а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и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а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з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а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г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л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а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и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я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щ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ё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л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и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</a:t>
            </a: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63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65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67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69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татистик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dt" idx="1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ftr" idx="1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2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CF08CCD-9E80-408E-9944-60BDCC9862E4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title"/>
          </p:nvPr>
        </p:nvSpPr>
        <p:spPr>
          <a:xfrm>
            <a:off x="3675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75" name="Текст 35"/>
          <p:cNvSpPr/>
          <p:nvPr/>
        </p:nvSpPr>
        <p:spPr>
          <a:xfrm>
            <a:off x="6683040" y="101592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683040" y="139536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77" name="Текст 35"/>
          <p:cNvSpPr/>
          <p:nvPr/>
        </p:nvSpPr>
        <p:spPr>
          <a:xfrm>
            <a:off x="6683040" y="228456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6683040" y="266400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79" name="Текст 35"/>
          <p:cNvSpPr/>
          <p:nvPr/>
        </p:nvSpPr>
        <p:spPr>
          <a:xfrm>
            <a:off x="6683040" y="355320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7"/>
          <p:cNvSpPr>
            <a:spLocks noGrp="1"/>
          </p:cNvSpPr>
          <p:nvPr>
            <p:ph type="body"/>
          </p:nvPr>
        </p:nvSpPr>
        <p:spPr>
          <a:xfrm>
            <a:off x="6683040" y="393264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81" name="Текст 35"/>
          <p:cNvSpPr/>
          <p:nvPr/>
        </p:nvSpPr>
        <p:spPr>
          <a:xfrm>
            <a:off x="6683040" y="4821840"/>
            <a:ext cx="47898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body"/>
          </p:nvPr>
        </p:nvSpPr>
        <p:spPr>
          <a:xfrm>
            <a:off x="6683040" y="5201280"/>
            <a:ext cx="4789800" cy="64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тадии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dt" idx="2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ftr" idx="2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2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64CA809-E3E3-4489-8223-77D267638540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Текст 35"/>
          <p:cNvSpPr/>
          <p:nvPr/>
        </p:nvSpPr>
        <p:spPr>
          <a:xfrm>
            <a:off x="34596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34596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88" name="Текст 35"/>
          <p:cNvSpPr/>
          <p:nvPr/>
        </p:nvSpPr>
        <p:spPr>
          <a:xfrm>
            <a:off x="483300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body"/>
          </p:nvPr>
        </p:nvSpPr>
        <p:spPr>
          <a:xfrm>
            <a:off x="483300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90" name="Текст 35"/>
          <p:cNvSpPr/>
          <p:nvPr/>
        </p:nvSpPr>
        <p:spPr>
          <a:xfrm>
            <a:off x="9330840" y="102492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body"/>
          </p:nvPr>
        </p:nvSpPr>
        <p:spPr>
          <a:xfrm>
            <a:off x="9330840" y="138096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92" name="Текст 35"/>
          <p:cNvSpPr/>
          <p:nvPr/>
        </p:nvSpPr>
        <p:spPr>
          <a:xfrm>
            <a:off x="259344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 type="body"/>
          </p:nvPr>
        </p:nvSpPr>
        <p:spPr>
          <a:xfrm>
            <a:off x="259344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94" name="Текст 35"/>
          <p:cNvSpPr/>
          <p:nvPr/>
        </p:nvSpPr>
        <p:spPr>
          <a:xfrm>
            <a:off x="7080480" y="4358160"/>
            <a:ext cx="2525760" cy="1476360"/>
          </a:xfrm>
          <a:prstGeom prst="roundRect">
            <a:avLst>
              <a:gd name="adj" fmla="val 1588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body"/>
          </p:nvPr>
        </p:nvSpPr>
        <p:spPr>
          <a:xfrm>
            <a:off x="7080480" y="4714200"/>
            <a:ext cx="2525760" cy="1120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4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96" name="PlaceHolder 9"/>
          <p:cNvSpPr>
            <a:spLocks noGrp="1"/>
          </p:cNvSpPr>
          <p:nvPr>
            <p:ph type="title"/>
          </p:nvPr>
        </p:nvSpPr>
        <p:spPr>
          <a:xfrm>
            <a:off x="38412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блема и реше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dt" idx="2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2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2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35ACB8E-4A01-4C07-95AE-E70A40ADF8E9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35748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ОБРАЗЕЦ ЗАГОЛОВКА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01" name="Текст 35"/>
          <p:cNvSpPr/>
          <p:nvPr/>
        </p:nvSpPr>
        <p:spPr>
          <a:xfrm>
            <a:off x="51696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Описание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проблемы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Текст 35"/>
          <p:cNvSpPr/>
          <p:nvPr/>
        </p:nvSpPr>
        <p:spPr>
          <a:xfrm>
            <a:off x="446472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Примеры уже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имеющихся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способов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решения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данной 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проблемы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Текст 35"/>
          <p:cNvSpPr/>
          <p:nvPr/>
        </p:nvSpPr>
        <p:spPr>
          <a:xfrm>
            <a:off x="8385480" y="3810240"/>
            <a:ext cx="3263760" cy="2374920"/>
          </a:xfrm>
          <a:prstGeom prst="roundRect">
            <a:avLst>
              <a:gd name="adj" fmla="val 101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49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Ваше предложение решения данной проблемы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Текст 35"/>
          <p:cNvSpPr/>
          <p:nvPr/>
        </p:nvSpPr>
        <p:spPr>
          <a:xfrm>
            <a:off x="51696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Проблема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Текст 35"/>
          <p:cNvSpPr/>
          <p:nvPr/>
        </p:nvSpPr>
        <p:spPr>
          <a:xfrm>
            <a:off x="446472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Альтернативные решения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Текст 35"/>
          <p:cNvSpPr/>
          <p:nvPr/>
        </p:nvSpPr>
        <p:spPr>
          <a:xfrm>
            <a:off x="8385480" y="3252240"/>
            <a:ext cx="3263760" cy="391320"/>
          </a:xfrm>
          <a:prstGeom prst="roundRect">
            <a:avLst>
              <a:gd name="adj" fmla="val 101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algn="ctr" defTabSz="578880">
              <a:lnSpc>
                <a:spcPct val="90000"/>
              </a:lnSpc>
              <a:spcBef>
                <a:spcPts val="632"/>
              </a:spcBef>
              <a:tabLst>
                <a:tab pos="0" algn="l"/>
              </a:tabLst>
            </a:pPr>
            <a:r>
              <a:rPr lang="ru-RU" sz="1600" b="1" u="none" strike="noStrike">
                <a:solidFill>
                  <a:schemeClr val="accent2"/>
                </a:solidFill>
                <a:effectLst/>
                <a:uFillTx/>
                <a:latin typeface="Montserrat"/>
              </a:rPr>
              <a:t>Решение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емо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4163040" y="1264320"/>
            <a:ext cx="3865680" cy="2436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dt" idx="2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2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2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282E136-4CA0-4C62-BB1E-4BE4DD9BC204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4596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424044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14" name="PlaceHolder 8"/>
          <p:cNvSpPr>
            <a:spLocks noGrp="1"/>
          </p:cNvSpPr>
          <p:nvPr>
            <p:ph type="body"/>
          </p:nvPr>
        </p:nvSpPr>
        <p:spPr>
          <a:xfrm>
            <a:off x="8230320" y="4656240"/>
            <a:ext cx="362664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писание команды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body" hasCustomPrompt="1"/>
          </p:nvPr>
        </p:nvSpPr>
        <p:spPr>
          <a:xfrm>
            <a:off x="6894000" y="1044000"/>
            <a:ext cx="4962600" cy="222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Montserrat"/>
              </a:rPr>
              <a:t>Фото команды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title" hasCustomPrompt="1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КОМАНДА «НАЗВАНИЕ»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Демо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dt" idx="30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ftr" idx="31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32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0C1E08B-03A1-435A-80EA-3E3F11C9A55C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title"/>
          </p:nvPr>
        </p:nvSpPr>
        <p:spPr>
          <a:xfrm>
            <a:off x="3531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121068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6858000" y="4324320"/>
            <a:ext cx="4121280" cy="1612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12106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4" name="PlaceHolder 8"/>
          <p:cNvSpPr>
            <a:spLocks noGrp="1"/>
          </p:cNvSpPr>
          <p:nvPr>
            <p:ph type="body"/>
          </p:nvPr>
        </p:nvSpPr>
        <p:spPr>
          <a:xfrm>
            <a:off x="6855480" y="1577880"/>
            <a:ext cx="4121280" cy="2283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0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Демо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5009760" y="1235880"/>
            <a:ext cx="2171880" cy="460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6" name="Текст 35"/>
          <p:cNvSpPr/>
          <p:nvPr/>
        </p:nvSpPr>
        <p:spPr>
          <a:xfrm>
            <a:off x="35640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5640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28" name="Текст 35"/>
          <p:cNvSpPr/>
          <p:nvPr/>
        </p:nvSpPr>
        <p:spPr>
          <a:xfrm>
            <a:off x="8039880" y="164124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8039880" y="202068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30" name="Текст 35"/>
          <p:cNvSpPr/>
          <p:nvPr/>
        </p:nvSpPr>
        <p:spPr>
          <a:xfrm>
            <a:off x="35640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35640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32" name="Текст 35"/>
          <p:cNvSpPr/>
          <p:nvPr/>
        </p:nvSpPr>
        <p:spPr>
          <a:xfrm>
            <a:off x="8039880" y="3864600"/>
            <a:ext cx="3812400" cy="10213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2F6">
                  <a:alpha val="20000"/>
                </a:srgbClr>
              </a:gs>
              <a:gs pos="65000">
                <a:srgbClr val="FFFFFF">
                  <a:alpha val="0"/>
                </a:srgbClr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8039880" y="4244040"/>
            <a:ext cx="3812400" cy="129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591560" lvl="5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881000" lvl="6" indent="-14472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cxnSp>
        <p:nvCxnSpPr>
          <p:cNvPr id="134" name="Google Shape;2799;p94"/>
          <p:cNvCxnSpPr/>
          <p:nvPr/>
        </p:nvCxnSpPr>
        <p:spPr>
          <a:xfrm>
            <a:off x="4244400" y="1870200"/>
            <a:ext cx="687240" cy="360"/>
          </a:xfrm>
          <a:prstGeom prst="straightConnector1">
            <a:avLst/>
          </a:prstGeom>
          <a:ln w="25400">
            <a:solidFill>
              <a:srgbClr val="FF0053"/>
            </a:solidFill>
            <a:round/>
          </a:ln>
        </p:spPr>
      </p:cxnSp>
      <p:cxnSp>
        <p:nvCxnSpPr>
          <p:cNvPr id="135" name="Google Shape;2799;p94"/>
          <p:cNvCxnSpPr/>
          <p:nvPr/>
        </p:nvCxnSpPr>
        <p:spPr>
          <a:xfrm>
            <a:off x="4244400" y="4094280"/>
            <a:ext cx="687240" cy="360"/>
          </a:xfrm>
          <a:prstGeom prst="straightConnector1">
            <a:avLst/>
          </a:prstGeom>
          <a:ln w="25400">
            <a:solidFill>
              <a:srgbClr val="520977"/>
            </a:solidFill>
            <a:round/>
          </a:ln>
        </p:spPr>
      </p:cxnSp>
      <p:cxnSp>
        <p:nvCxnSpPr>
          <p:cNvPr id="136" name="Google Shape;2799;p94"/>
          <p:cNvCxnSpPr/>
          <p:nvPr/>
        </p:nvCxnSpPr>
        <p:spPr>
          <a:xfrm>
            <a:off x="7250400" y="1870200"/>
            <a:ext cx="687240" cy="360"/>
          </a:xfrm>
          <a:prstGeom prst="straightConnector1">
            <a:avLst/>
          </a:prstGeom>
          <a:ln w="25400">
            <a:solidFill>
              <a:srgbClr val="520977">
                <a:lumMod val="20000"/>
                <a:lumOff val="80000"/>
              </a:srgbClr>
            </a:solidFill>
            <a:round/>
          </a:ln>
        </p:spPr>
      </p:cxnSp>
      <p:cxnSp>
        <p:nvCxnSpPr>
          <p:cNvPr id="137" name="Google Shape;2799;p94"/>
          <p:cNvCxnSpPr/>
          <p:nvPr/>
        </p:nvCxnSpPr>
        <p:spPr>
          <a:xfrm>
            <a:off x="7250400" y="4094280"/>
            <a:ext cx="687240" cy="360"/>
          </a:xfrm>
          <a:prstGeom prst="straightConnector1">
            <a:avLst/>
          </a:prstGeom>
          <a:ln w="25400">
            <a:solidFill>
              <a:srgbClr val="FC3777"/>
            </a:solidFill>
            <a:round/>
          </a:ln>
        </p:spPr>
      </p:cxnSp>
      <p:sp>
        <p:nvSpPr>
          <p:cNvPr id="138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dt" idx="33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8"/>
          <p:cNvSpPr>
            <a:spLocks noGrp="1"/>
          </p:cNvSpPr>
          <p:nvPr>
            <p:ph type="ftr" idx="34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9"/>
          <p:cNvSpPr>
            <a:spLocks noGrp="1"/>
          </p:cNvSpPr>
          <p:nvPr>
            <p:ph type="sldNum" idx="3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85E2FAB-EF43-4DE8-97C7-682C88292167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Демо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10015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уровень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уровень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уровень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мой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уров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ень 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</a:t>
            </a: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38311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6607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9490320" y="1038240"/>
            <a:ext cx="1725840" cy="3657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4000" lvl="1" indent="-324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296000" lvl="2" indent="-288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28000" lvl="3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160000" lvl="4" indent="-216000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592000" lvl="5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3024000" lvl="6" indent="-216000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dt" idx="36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ftr" idx="37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7"/>
          <p:cNvSpPr>
            <a:spLocks noGrp="1"/>
          </p:cNvSpPr>
          <p:nvPr>
            <p:ph type="sldNum" idx="38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BC9C9D1-AFEF-4D96-A46E-860AB6B7FEA1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8"/>
          <p:cNvSpPr>
            <a:spLocks noGrp="1"/>
          </p:cNvSpPr>
          <p:nvPr>
            <p:ph type="body"/>
          </p:nvPr>
        </p:nvSpPr>
        <p:spPr>
          <a:xfrm>
            <a:off x="34596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0" name="PlaceHolder 9"/>
          <p:cNvSpPr>
            <a:spLocks noGrp="1"/>
          </p:cNvSpPr>
          <p:nvPr>
            <p:ph type="body"/>
          </p:nvPr>
        </p:nvSpPr>
        <p:spPr>
          <a:xfrm>
            <a:off x="326952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1" name="PlaceHolder 10"/>
          <p:cNvSpPr>
            <a:spLocks noGrp="1"/>
          </p:cNvSpPr>
          <p:nvPr>
            <p:ph type="body"/>
          </p:nvPr>
        </p:nvSpPr>
        <p:spPr>
          <a:xfrm>
            <a:off x="619308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2" name="PlaceHolder 11"/>
          <p:cNvSpPr>
            <a:spLocks noGrp="1"/>
          </p:cNvSpPr>
          <p:nvPr>
            <p:ph type="body"/>
          </p:nvPr>
        </p:nvSpPr>
        <p:spPr>
          <a:xfrm>
            <a:off x="9116640" y="4929480"/>
            <a:ext cx="2738880" cy="127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3" name="PlaceHolder 12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оманд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dt" idx="39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ftr" idx="40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1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5F27D82-2768-4581-98B2-7F3238F74815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title" hasCustomPrompt="1"/>
          </p:nvPr>
        </p:nvSpPr>
        <p:spPr>
          <a:xfrm>
            <a:off x="345960" y="395280"/>
            <a:ext cx="1124424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КОМАНДА «НАЗВАНИЕ»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body" hasCustomPrompt="1"/>
          </p:nvPr>
        </p:nvSpPr>
        <p:spPr>
          <a:xfrm>
            <a:off x="8064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Роль в команде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Telegram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59" name="PlaceHolder 6"/>
          <p:cNvSpPr>
            <a:spLocks noGrp="1"/>
          </p:cNvSpPr>
          <p:nvPr>
            <p:ph type="body" hasCustomPrompt="1"/>
          </p:nvPr>
        </p:nvSpPr>
        <p:spPr>
          <a:xfrm>
            <a:off x="301464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Роль в команде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Telegram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60" name="PlaceHolder 7"/>
          <p:cNvSpPr>
            <a:spLocks noGrp="1"/>
          </p:cNvSpPr>
          <p:nvPr>
            <p:ph type="body" hasCustomPrompt="1"/>
          </p:nvPr>
        </p:nvSpPr>
        <p:spPr>
          <a:xfrm>
            <a:off x="519120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Роль в команде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Telegram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61" name="PlaceHolder 8"/>
          <p:cNvSpPr>
            <a:spLocks noGrp="1"/>
          </p:cNvSpPr>
          <p:nvPr>
            <p:ph type="body" hasCustomPrompt="1"/>
          </p:nvPr>
        </p:nvSpPr>
        <p:spPr>
          <a:xfrm>
            <a:off x="736668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Роль в команде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Telegram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62" name="PlaceHolder 9"/>
          <p:cNvSpPr>
            <a:spLocks noGrp="1"/>
          </p:cNvSpPr>
          <p:nvPr>
            <p:ph type="body" hasCustomPrompt="1"/>
          </p:nvPr>
        </p:nvSpPr>
        <p:spPr>
          <a:xfrm>
            <a:off x="9542160" y="4192200"/>
            <a:ext cx="1843200" cy="157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</a:lstStyle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Роль в команде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Telegram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Номер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 заголовком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dt" idx="42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ftr" idx="43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7FAED4A-7872-479F-9A23-AC09E3796E60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и объект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315360" y="1016280"/>
            <a:ext cx="11561040" cy="516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dt" idx="45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ftr" idx="46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sldNum" idx="4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383E5D74-559C-4143-8835-B207126F6009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объекта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body"/>
          </p:nvPr>
        </p:nvSpPr>
        <p:spPr>
          <a:xfrm>
            <a:off x="315360" y="1015920"/>
            <a:ext cx="5704200" cy="518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172200" y="1015920"/>
            <a:ext cx="5670000" cy="518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dt" idx="48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ftr" idx="49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sldNum" idx="5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15DBDE5F-B002-4612-A858-22208A06F758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 type="title"/>
          </p:nvPr>
        </p:nvSpPr>
        <p:spPr>
          <a:xfrm>
            <a:off x="34596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body"/>
          </p:nvPr>
        </p:nvSpPr>
        <p:spPr>
          <a:xfrm>
            <a:off x="315360" y="1015560"/>
            <a:ext cx="56818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89440"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578880"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7960"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157400"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6840"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36280"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349200" y="1598760"/>
            <a:ext cx="5648040" cy="460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172200" y="1015560"/>
            <a:ext cx="5684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правки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89440"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й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уровен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578880"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тий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уро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вен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ктур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7960"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ё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й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157400"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я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й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6840"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й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36280"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й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о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е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н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ь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к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у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р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6172200" y="1598760"/>
            <a:ext cx="5670000" cy="460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45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2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89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989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9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dt" idx="51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ftr" idx="52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sldNum" idx="5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790DCF4-11EA-458C-85C6-FD36188B6EDC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8"/>
          <p:cNvSpPr>
            <a:spLocks noGrp="1"/>
          </p:cNvSpPr>
          <p:nvPr>
            <p:ph type="title"/>
          </p:nvPr>
        </p:nvSpPr>
        <p:spPr>
          <a:xfrm>
            <a:off x="349200" y="421200"/>
            <a:ext cx="9862200" cy="375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dt" idx="54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ftr" idx="55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5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B2F89B13-79BD-485E-B097-AB16AFCACB42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34800" y="1015920"/>
            <a:ext cx="4436640" cy="121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578880">
              <a:lnSpc>
                <a:spcPct val="90000"/>
              </a:lnSpc>
              <a:buNone/>
              <a:defRPr lang="ru-RU" sz="2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578880">
              <a:lnSpc>
                <a:spcPct val="90000"/>
              </a:lnSpc>
              <a:buNone/>
            </a:pPr>
            <a:r>
              <a:rPr lang="ru-RU" sz="24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текста заглавия щёлкните мышью</a:t>
            </a:r>
            <a:endParaRPr lang="ru-RU" sz="24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183280" y="1015920"/>
            <a:ext cx="6673320" cy="504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578880">
              <a:lnSpc>
                <a:spcPct val="90000"/>
              </a:lnSpc>
              <a:spcBef>
                <a:spcPts val="632"/>
              </a:spcBef>
              <a:buNone/>
              <a:defRPr lang="ru-RU" sz="177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52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2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14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  <a:defRPr lang="ru-RU" sz="114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</a:lstStyle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77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434160" lvl="1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52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</a:t>
            </a:r>
            <a:endParaRPr lang="ru-RU" sz="152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723600" lvl="2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2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</a:t>
            </a:r>
            <a:endParaRPr lang="ru-RU" sz="126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012680" lvl="3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14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Четвертый уровень</a:t>
            </a:r>
            <a:endParaRPr lang="ru-RU" sz="114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302120" lvl="4" indent="-144720" algn="l" defTabSz="578880">
              <a:lnSpc>
                <a:spcPct val="90000"/>
              </a:lnSpc>
              <a:spcBef>
                <a:spcPts val="317"/>
              </a:spcBef>
              <a:buClr>
                <a:srgbClr val="F2F2F2"/>
              </a:buClr>
              <a:buFont typeface="Arial"/>
              <a:buChar char="•"/>
            </a:pPr>
            <a:r>
              <a:rPr lang="ru-RU" sz="114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</a:t>
            </a:r>
            <a:endParaRPr lang="ru-RU" sz="114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334800" y="2428200"/>
            <a:ext cx="4436640" cy="363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  <a:lvl2pPr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2pPr>
            <a:lvl3pPr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3pPr>
            <a:lvl4pPr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4pPr>
            <a:lvl5pPr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5pPr>
            <a:lvl6pPr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6pPr>
            <a:lvl7pPr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7pPr>
          </a:lstStyle>
          <a:p>
            <a:pPr algn="l" defTabSz="578880">
              <a:lnSpc>
                <a:spcPct val="90000"/>
              </a:lnSpc>
              <a:spcBef>
                <a:spcPts val="632"/>
              </a:spcBef>
              <a:buClr>
                <a:srgbClr val="F2F2F2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Для правки структуры щёлкните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мышью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289440" lvl="1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Второй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578880" lvl="2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Третий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867960" lvl="3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Четвёртый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157400" lvl="4" algn="l" defTabSz="578880">
              <a:lnSpc>
                <a:spcPct val="90000"/>
              </a:lnSpc>
              <a:spcBef>
                <a:spcPts val="3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Пятый уровень 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6840" lvl="5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Шестой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736280" lvl="6" algn="l" defTabSz="57888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Седьмой уровень </a:t>
            </a:r>
            <a:r>
              <a:rPr lang="ru-RU" sz="14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структуры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dt" idx="57"/>
          </p:nvPr>
        </p:nvSpPr>
        <p:spPr>
          <a:xfrm>
            <a:off x="306360" y="6356520"/>
            <a:ext cx="10472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ru-RU" sz="76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&lt;дата/время&gt;</a:t>
            </a:r>
            <a:endParaRPr lang="ru-RU" sz="76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ftr" idx="58"/>
          </p:nvPr>
        </p:nvSpPr>
        <p:spPr>
          <a:xfrm>
            <a:off x="1459440" y="6356520"/>
            <a:ext cx="9574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5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9C62783C-0A5E-4296-872D-C873CF053D8E}" type="slidenum">
              <a:rPr lang="ru-RU" sz="1200" b="0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chart" Target="../charts/chart1.xml"/><Relationship Id="rId3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 hasCustomPrompt="1"/>
          </p:nvPr>
        </p:nvSpPr>
        <p:spPr>
          <a:xfrm>
            <a:off x="0" y="3894480"/>
            <a:ext cx="6271560" cy="1706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57888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2800" b="1" u="none" strike="noStrike">
                <a:solidFill>
                  <a:schemeClr val="lt1">
                    <a:lumMod val="95000"/>
                  </a:schemeClr>
                </a:solidFill>
                <a:effectLst/>
                <a:uFillTx/>
                <a:latin typeface="Montserrat"/>
              </a:rPr>
              <a:t>Ezdel</a:t>
            </a:r>
            <a:endParaRPr lang="ru-RU" sz="28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hasCustomPrompt="1"/>
          </p:nvPr>
        </p:nvSpPr>
        <p:spPr>
          <a:xfrm>
            <a:off x="0" y="5659560"/>
            <a:ext cx="8930160" cy="297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ЦИФРОВАЯ ПЛАТФОРМА-АГРЕГАТОР ИТ-</a:t>
            </a: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	</a:t>
            </a: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	</a:t>
            </a:r>
            <a:r>
              <a:rPr lang="ru-RU" sz="26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      ВАКАНСИЙ</a:t>
            </a:r>
            <a:endParaRPr lang="ru-RU" sz="26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rgbClr val="FFD6E4"/>
                </a:solidFill>
                <a:effectLst/>
                <a:uFillTx/>
                <a:latin typeface="Montserrat"/>
                <a:ea typeface="Montserrat"/>
              </a:rPr>
              <a:t>с верифицированным профилем достижений участника Федерации </a:t>
            </a:r>
            <a:r>
              <a:rPr lang="ru-RU" sz="1600" b="0" u="none" strike="noStrike">
                <a:solidFill>
                  <a:srgbClr val="FFD6E4"/>
                </a:solidFill>
                <a:effectLst/>
                <a:uFillTx/>
                <a:latin typeface="Montserrat"/>
                <a:ea typeface="Montserrat"/>
              </a:rPr>
              <a:t>	</a:t>
            </a:r>
            <a:r>
              <a:rPr lang="ru-RU" sz="1600" b="0" u="none" strike="noStrike">
                <a:solidFill>
                  <a:srgbClr val="FFD6E4"/>
                </a:solidFill>
                <a:effectLst/>
                <a:uFillTx/>
                <a:latin typeface="Montserrat"/>
                <a:ea typeface="Montserrat"/>
              </a:rPr>
              <a:t>    спортивного программирования</a:t>
            </a:r>
            <a:endParaRPr lang="ru-RU" sz="16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rgbClr val="00F5D4"/>
                </a:solidFill>
                <a:effectLst/>
                <a:uFillTx/>
                <a:latin typeface="Montserrat"/>
                <a:ea typeface="Montserrat"/>
              </a:rPr>
              <a:t>Модель обратного рекрутинга LHH | Психометрика KITE IRT 3PL | Защита данных по 152-ФЗ РФ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0" u="none" strike="noStrike">
                <a:solidFill>
                  <a:srgbClr val="8A83D1"/>
                </a:solidFill>
                <a:effectLst/>
                <a:uFillTx/>
                <a:latin typeface="Montserrat"/>
                <a:ea typeface="Montserrat"/>
              </a:rPr>
              <a:t>Команда: «СпортТех Код» (FSP Talent Core) | Хакатон ЛЦТ 2026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🌐 Боевой сервер онлайн: http://153.76.194.215 (порт 80)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02" name="Скругленный прямоугольник 1"/>
          <p:cNvSpPr/>
          <p:nvPr/>
        </p:nvSpPr>
        <p:spPr>
          <a:xfrm>
            <a:off x="-296640" y="-313920"/>
            <a:ext cx="6124680" cy="2285280"/>
          </a:xfrm>
          <a:prstGeom prst="roundRect">
            <a:avLst>
              <a:gd name="adj" fmla="val 9821"/>
            </a:avLst>
          </a:prstGeom>
          <a:noFill/>
          <a:ln w="9525">
            <a:solidFill>
              <a:srgbClr val="FFD6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pic>
        <p:nvPicPr>
          <p:cNvPr id="203" name="Рисунок 9"/>
          <p:cNvPicPr/>
          <p:nvPr/>
        </p:nvPicPr>
        <p:blipFill>
          <a:blip r:embed="rId1"/>
          <a:stretch/>
        </p:blipFill>
        <p:spPr>
          <a:xfrm>
            <a:off x="345960" y="631080"/>
            <a:ext cx="4905000" cy="619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Прямоугольник 2"/>
          <p:cNvSpPr/>
          <p:nvPr/>
        </p:nvSpPr>
        <p:spPr>
          <a:xfrm>
            <a:off x="0" y="2971800"/>
            <a:ext cx="6455880" cy="3885840"/>
          </a:xfrm>
          <a:prstGeom prst="rect">
            <a:avLst/>
          </a:prstGeom>
          <a:solidFill>
            <a:srgbClr val="DCCEE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205" name="Текст 8"/>
          <p:cNvSpPr/>
          <p:nvPr/>
        </p:nvSpPr>
        <p:spPr>
          <a:xfrm>
            <a:off x="6819840" y="230328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В ЧЕМ СУТЬ ВАШЕГО РЕШЕНИЯ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Текст 8"/>
          <p:cNvSpPr/>
          <p:nvPr/>
        </p:nvSpPr>
        <p:spPr>
          <a:xfrm>
            <a:off x="6836760" y="4876200"/>
            <a:ext cx="4945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1. Психометрика KITE IRT 3PL: </a:t>
            </a: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Модель Бирнбаума с погрешностью SEM &lt;= 0.32.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2. Защита от утечек HMAC-SHA256: </a:t>
            </a: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530 000+ вариантов без галлюцинаций LLM.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3. 100% равенство соискателей: </a:t>
            </a: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Динамическая перекалибровка весов для Non-FSP (0.52/0.30/0.00/0.18).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Текст 8"/>
          <p:cNvSpPr/>
          <p:nvPr/>
        </p:nvSpPr>
        <p:spPr>
          <a:xfrm>
            <a:off x="334800" y="3882960"/>
            <a:ext cx="5629320" cy="129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Команда: Ezdel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Капитан: Магомед Муцольгов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Team Lead &amp; Solution Architect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Кол-во участников: 2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 профильных экспертов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Специализация: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FastAPI, React, DevOps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Город: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Магас / Республика Ингушетия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Live Production: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http://153.76.194.215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Текст 8"/>
          <p:cNvSpPr/>
          <p:nvPr/>
        </p:nvSpPr>
        <p:spPr>
          <a:xfrm>
            <a:off x="334800" y="3484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О КОМАНДЕ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 hasCustomPrompt="1"/>
          </p:nvPr>
        </p:nvSpPr>
        <p:spPr>
          <a:xfrm>
            <a:off x="6819840" y="1038960"/>
            <a:ext cx="5199480" cy="101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2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О КОМАНДЕ И</a:t>
            </a:r>
            <a:endParaRPr lang="ru-RU" sz="22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buNone/>
            </a:pPr>
            <a:r>
              <a:rPr lang="ru-RU" sz="22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ИННОВАЦИОННОСТИ</a:t>
            </a:r>
            <a:endParaRPr lang="ru-RU" sz="22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cxnSp>
        <p:nvCxnSpPr>
          <p:cNvPr id="210" name="Прямая соединительная линия 6"/>
          <p:cNvCxnSpPr/>
          <p:nvPr/>
        </p:nvCxnSpPr>
        <p:spPr>
          <a:xfrm>
            <a:off x="6880680" y="22399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11" name="Прямая соединительная линия 15"/>
          <p:cNvCxnSpPr/>
          <p:nvPr/>
        </p:nvCxnSpPr>
        <p:spPr>
          <a:xfrm>
            <a:off x="6897240" y="4437720"/>
            <a:ext cx="48852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12" name="Прямая соединительная линия 16"/>
          <p:cNvCxnSpPr/>
          <p:nvPr/>
        </p:nvCxnSpPr>
        <p:spPr>
          <a:xfrm>
            <a:off x="395640" y="3448440"/>
            <a:ext cx="5700600" cy="360"/>
          </a:xfrm>
          <a:prstGeom prst="straightConnector1">
            <a:avLst/>
          </a:prstGeom>
          <a:ln>
            <a:solidFill>
              <a:srgbClr val="520977"/>
            </a:solidFill>
          </a:ln>
        </p:spPr>
      </p:cxnSp>
      <p:sp>
        <p:nvSpPr>
          <p:cNvPr id="213" name="Текст 8"/>
          <p:cNvSpPr/>
          <p:nvPr/>
        </p:nvSpPr>
        <p:spPr>
          <a:xfrm>
            <a:off x="6819840" y="4541760"/>
            <a:ext cx="4945320" cy="6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УНИКАЛЬНОСТЬ </a:t>
            </a: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РЕШЕНИЯ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Текст 8"/>
          <p:cNvSpPr/>
          <p:nvPr/>
        </p:nvSpPr>
        <p:spPr>
          <a:xfrm>
            <a:off x="6807960" y="2620080"/>
            <a:ext cx="4945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Модель обратного рекрутинга (LHH):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Работодатели формируют потребности с открытой вилкой ЗП в рублях (спред &lt;= 3.5x). Кандидаты подтверждают грейд через адаптивное тестирование KITE IRT 3PL и реестр ФСП. Контакты маскируются до обоюдного согласия (152-ФЗ).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Номер слайда 35"/>
          <p:cNvSpPr/>
          <p:nvPr/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</a:pPr>
            <a:fld id="{C3557B5C-6671-46C7-8457-30CB4BBD8B0F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Рисунок 15"/>
          <p:cNvPicPr/>
          <p:nvPr/>
        </p:nvPicPr>
        <p:blipFill>
          <a:blip r:embed="rId2"/>
          <a:srcRect l="0" t="35830" r="0" b="35830"/>
          <a:stretch/>
        </p:blipFill>
        <p:spPr>
          <a:xfrm>
            <a:off x="712800" y="479520"/>
            <a:ext cx="5226480" cy="2219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Скругленный прямоугольник 55"/>
          <p:cNvSpPr/>
          <p:nvPr/>
        </p:nvSpPr>
        <p:spPr>
          <a:xfrm>
            <a:off x="265140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18" name="Текст 8"/>
          <p:cNvSpPr/>
          <p:nvPr/>
        </p:nvSpPr>
        <p:spPr>
          <a:xfrm>
            <a:off x="2823840" y="4250160"/>
            <a:ext cx="1893960" cy="12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Lead Data Scientist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&amp; Psychometrics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FastAPI, React,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Keycloak, Nginx,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Docker, DevOps,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PostgreSQL,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Текст 8"/>
          <p:cNvSpPr/>
          <p:nvPr/>
        </p:nvSpPr>
        <p:spPr>
          <a:xfrm>
            <a:off x="2823840" y="3621960"/>
            <a:ext cx="172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Муталиева Любовь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Текст 8"/>
          <p:cNvSpPr/>
          <p:nvPr/>
        </p:nvSpPr>
        <p:spPr>
          <a:xfrm>
            <a:off x="512892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Текст 8"/>
          <p:cNvSpPr/>
          <p:nvPr/>
        </p:nvSpPr>
        <p:spPr>
          <a:xfrm>
            <a:off x="512892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Текст 8"/>
          <p:cNvSpPr/>
          <p:nvPr/>
        </p:nvSpPr>
        <p:spPr>
          <a:xfrm>
            <a:off x="7434360" y="4250160"/>
            <a:ext cx="1893960" cy="16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Текст 8"/>
          <p:cNvSpPr/>
          <p:nvPr/>
        </p:nvSpPr>
        <p:spPr>
          <a:xfrm>
            <a:off x="7434360" y="3621960"/>
            <a:ext cx="17222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Текст 8"/>
          <p:cNvSpPr/>
          <p:nvPr/>
        </p:nvSpPr>
        <p:spPr>
          <a:xfrm>
            <a:off x="9739800" y="4250160"/>
            <a:ext cx="189396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Текст 8"/>
          <p:cNvSpPr/>
          <p:nvPr/>
        </p:nvSpPr>
        <p:spPr>
          <a:xfrm>
            <a:off x="9739800" y="3621960"/>
            <a:ext cx="1722240" cy="62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Скругленный прямоугольник 16"/>
          <p:cNvSpPr/>
          <p:nvPr/>
        </p:nvSpPr>
        <p:spPr>
          <a:xfrm>
            <a:off x="345960" y="1522080"/>
            <a:ext cx="2192400" cy="483408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27" name="Скругленный прямоугольник 12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sldNum" idx="63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3B48E9E-2D7C-4338-B37B-2AD96E256553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29" name="Рисунок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81400" y="1816200"/>
            <a:ext cx="1722240" cy="155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Рисунок 2"/>
          <p:cNvPicPr/>
          <p:nvPr/>
        </p:nvPicPr>
        <p:blipFill>
          <a:blip r:embed="rId3"/>
          <a:stretch/>
        </p:blipFill>
        <p:spPr>
          <a:xfrm>
            <a:off x="2886480" y="1826640"/>
            <a:ext cx="1722240" cy="15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PlaceHolder 2"/>
          <p:cNvSpPr>
            <a:spLocks noGrp="1"/>
          </p:cNvSpPr>
          <p:nvPr>
            <p:ph type="title" hasCustomPrompt="1"/>
          </p:nvPr>
        </p:nvSpPr>
        <p:spPr>
          <a:xfrm>
            <a:off x="51840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КОМПЕТЕНЦИИ И КОНТАКТЫ КОМАНДЫ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hasCustomPrompt="1"/>
          </p:nvPr>
        </p:nvSpPr>
        <p:spPr>
          <a:xfrm>
            <a:off x="518400" y="4250160"/>
            <a:ext cx="1893960" cy="153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Team Lead &amp; System Architect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TG: @Mutsolgov_77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[+7 929 595-06-06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 FastAPI, Keycloak, Nginx, Docker, PostgreSQL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33" name="Текст 8"/>
          <p:cNvSpPr/>
          <p:nvPr/>
        </p:nvSpPr>
        <p:spPr>
          <a:xfrm>
            <a:off x="518400" y="3621960"/>
            <a:ext cx="172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Муцольгов Магомед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Карточка 01"/>
          <p:cNvSpPr/>
          <p:nvPr/>
        </p:nvSpPr>
        <p:spPr>
          <a:xfrm>
            <a:off x="450000" y="1199880"/>
            <a:ext cx="1159956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Карточка 02"/>
          <p:cNvSpPr/>
          <p:nvPr/>
        </p:nvSpPr>
        <p:spPr>
          <a:xfrm>
            <a:off x="450000" y="2800080"/>
            <a:ext cx="11599560" cy="1599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Карточка 03"/>
          <p:cNvSpPr/>
          <p:nvPr/>
        </p:nvSpPr>
        <p:spPr>
          <a:xfrm>
            <a:off x="450000" y="4500000"/>
            <a:ext cx="11599560" cy="1749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Скругленный прямоугольник 1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sldNum" idx="6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95D75BF-40A8-4F64-8EF7-E908AB572849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 type="title" hasCustomPrompt="1"/>
          </p:nvPr>
        </p:nvSpPr>
        <p:spPr>
          <a:xfrm>
            <a:off x="507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ИСТОРИЯ КОМАНДЫ И КЛЮЧЕВЫЕ ВЫЗОВЫ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hasCustomPrompt="1"/>
          </p:nvPr>
        </p:nvSpPr>
        <p:spPr>
          <a:xfrm>
            <a:off x="533520" y="1602360"/>
            <a:ext cx="6486480" cy="1422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ctr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Команда образовалась еще в 2024 году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после начала основного обучения в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Школе 21 города Магас и с тех пор мы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вместе решаем разные проекты в том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числе и хакатоны. 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ctr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   До этого хакатона мы успели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поучаствовать и выиграть первые места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в двух хакатонах, в прошлом году стали </a:t>
            </a:r>
            <a:r>
              <a:rPr lang="ru-RU" sz="1300" b="0" u="none" strike="noStrike">
                <a:solidFill>
                  <a:srgbClr val="000000"/>
                </a:solidFill>
                <a:effectLst/>
                <a:uFillTx/>
                <a:latin typeface="Montserrat"/>
                <a:ea typeface="Noto Sans CJK SC"/>
              </a:rPr>
              <a:t>финалистами ЛЦТ.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41" name="Текст 8"/>
          <p:cNvSpPr/>
          <p:nvPr/>
        </p:nvSpPr>
        <p:spPr>
          <a:xfrm>
            <a:off x="533520" y="1279800"/>
            <a:ext cx="298980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Краткая история команды: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Текст 8"/>
          <p:cNvSpPr/>
          <p:nvPr/>
        </p:nvSpPr>
        <p:spPr>
          <a:xfrm>
            <a:off x="533520" y="5139360"/>
            <a:ext cx="7318440" cy="10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Главный вызов: исключить сливы задач KITE без дорогостоящих и галлюцинирующих LLM. Решили через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параметризацию HMAC-SHA256: 530 000+ вариантов при сохранении калиброванной сложности Birnbaum 3PL.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Текст 8"/>
          <p:cNvSpPr/>
          <p:nvPr/>
        </p:nvSpPr>
        <p:spPr>
          <a:xfrm>
            <a:off x="533520" y="4571640"/>
            <a:ext cx="6438240" cy="62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Сложности и вызовы хакатона: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Текст 8"/>
          <p:cNvSpPr/>
          <p:nvPr/>
        </p:nvSpPr>
        <p:spPr>
          <a:xfrm>
            <a:off x="533520" y="3429000"/>
            <a:ext cx="4945320" cy="10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Мы сами прошли путь спортпрограммирования. Турниры показывают реальную мощь инженера, но HR-рынок их часто игнорирует. Наша цель — превратить спортивные успехи в прозрачный карьерный капитал.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Текст 8"/>
          <p:cNvSpPr/>
          <p:nvPr/>
        </p:nvSpPr>
        <p:spPr>
          <a:xfrm>
            <a:off x="533520" y="2900160"/>
            <a:ext cx="562932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Почему мы выбрали задачу ФСП?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Прямая соединительная линия 4"/>
          <p:cNvCxnSpPr/>
          <p:nvPr/>
        </p:nvCxnSpPr>
        <p:spPr>
          <a:xfrm>
            <a:off x="623880" y="27453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247" name="Прямая соединительная линия 5"/>
          <p:cNvCxnSpPr/>
          <p:nvPr/>
        </p:nvCxnSpPr>
        <p:spPr>
          <a:xfrm>
            <a:off x="623880" y="440676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cxnSp>
        <p:nvCxnSpPr>
          <p:cNvPr id="248" name="Прямая соединительная линия 7"/>
          <p:cNvCxnSpPr/>
          <p:nvPr/>
        </p:nvCxnSpPr>
        <p:spPr>
          <a:xfrm>
            <a:off x="623880" y="1109880"/>
            <a:ext cx="11233440" cy="360"/>
          </a:xfrm>
          <a:prstGeom prst="straightConnector1">
            <a:avLst/>
          </a:prstGeom>
          <a:ln>
            <a:solidFill>
              <a:srgbClr val="FF0053"/>
            </a:solidFill>
          </a:ln>
        </p:spPr>
      </p:cxnSp>
      <p:sp>
        <p:nvSpPr>
          <p:cNvPr id="249" name="Текст 8"/>
          <p:cNvSpPr/>
          <p:nvPr/>
        </p:nvSpPr>
        <p:spPr>
          <a:xfrm>
            <a:off x="11015640" y="1279800"/>
            <a:ext cx="9565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01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Текст 8"/>
          <p:cNvSpPr/>
          <p:nvPr/>
        </p:nvSpPr>
        <p:spPr>
          <a:xfrm>
            <a:off x="11015640" y="2900160"/>
            <a:ext cx="930240" cy="5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02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Текст 8"/>
          <p:cNvSpPr/>
          <p:nvPr/>
        </p:nvSpPr>
        <p:spPr>
          <a:xfrm>
            <a:off x="11015640" y="4571640"/>
            <a:ext cx="9302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2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03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Скругленный прямоугольник 9"/>
          <p:cNvSpPr/>
          <p:nvPr/>
        </p:nvSpPr>
        <p:spPr>
          <a:xfrm>
            <a:off x="345960" y="324720"/>
            <a:ext cx="499968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53" name="Скругленный прямоугольник 23"/>
          <p:cNvSpPr/>
          <p:nvPr/>
        </p:nvSpPr>
        <p:spPr>
          <a:xfrm>
            <a:off x="6230880" y="1211400"/>
            <a:ext cx="5439960" cy="4989240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54" name="Скругленный прямоугольник 26"/>
          <p:cNvSpPr/>
          <p:nvPr/>
        </p:nvSpPr>
        <p:spPr>
          <a:xfrm>
            <a:off x="345960" y="1211400"/>
            <a:ext cx="5439960" cy="4989240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sldNum" idx="65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034010A4-4628-4050-9036-E69AEC878AEC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hasCustomPrompt="1"/>
          </p:nvPr>
        </p:nvSpPr>
        <p:spPr>
          <a:xfrm>
            <a:off x="589320" y="1920960"/>
            <a:ext cx="4929480" cy="377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Backend: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Асинхронный микромонолит FastAPI (Python 3.12, Async SQLAlchemy 2.0, PostgreSQL 16 Alpine, Pydantic v2).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Identity: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Keycloak 26 Quarkus с OIDC PKCE S256 и сопоставлением ФСП ID в токенах.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Frontend: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React 19 SPA, TypeScript 5.7, Vite, Tailwind CSS v4, Zustand 5, 35 оттестированных маршрутов.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Автономность: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100% локальный стек без внешних платных API (ReportLab PDF, локальные шрифты JetBrains Mono).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hasCustomPrompt="1"/>
          </p:nvPr>
        </p:nvSpPr>
        <p:spPr>
          <a:xfrm>
            <a:off x="6513480" y="1920960"/>
            <a:ext cx="4956840" cy="378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Reverse-Recruiting (LHH):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Инициатива принадлежит работодателю. Кандидаты подтверждают грейд один раз.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Экономия ресурсов: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Сокращение Time-to-Hire с 45 до 14 дней (-68%). Экономия 250 000 ₽ на закрытии позиции.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Честная вилка ЗП: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Обязательная вилка в рублях (спред &lt;= 3.5x). Полный запрет скрытых зарплат.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Нулевой спам: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Двухконтурная защита 152-ФЗ — контакты открываются только при обоюдном согласии.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title"/>
          </p:nvPr>
        </p:nvSpPr>
        <p:spPr>
          <a:xfrm>
            <a:off x="525960" y="110520"/>
            <a:ext cx="46998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КОРОТКО О РЕШЕНИИ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hasCustomPrompt="1"/>
          </p:nvPr>
        </p:nvSpPr>
        <p:spPr>
          <a:xfrm>
            <a:off x="578160" y="1476720"/>
            <a:ext cx="492948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Техническая суть решения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60" name="PlaceHolder 6"/>
          <p:cNvSpPr>
            <a:spLocks noGrp="1"/>
          </p:cNvSpPr>
          <p:nvPr>
            <p:ph hasCustomPrompt="1"/>
          </p:nvPr>
        </p:nvSpPr>
        <p:spPr>
          <a:xfrm>
            <a:off x="6513480" y="1476720"/>
            <a:ext cx="521424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Маркетинговая суть решения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Прямоугольник 29"/>
          <p:cNvSpPr/>
          <p:nvPr/>
        </p:nvSpPr>
        <p:spPr>
          <a:xfrm>
            <a:off x="0" y="0"/>
            <a:ext cx="645588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/>
          </p:nvPr>
        </p:nvSpPr>
        <p:spPr>
          <a:xfrm>
            <a:off x="521280" y="1263240"/>
            <a:ext cx="5574600" cy="484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КРИЗИС КЛАССИЧЕСКОГО CV-РЕКРУТИНГА</a:t>
            </a:r>
            <a:endParaRPr lang="ru-RU" sz="16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🔴 Боль работодателя: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85% спам-откликов. Дорогие техлиды тратят сотни часов на пустые скрининги резюме, сгенерированных нейросетями.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🔴 Боль соискателя: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Отклики в «черную дыру». Работодатели скрывают зарплаты («по договоренности») и меняют вилку на финале.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🔴 Боль индустрии: </a:t>
            </a: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Спортивные разряды ФСП и олимпиадный опыт игнорируются, растворяясь среди buzzwords.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💡 НАШЕ РЕШЕНИЕ: </a:t>
            </a:r>
            <a:r>
              <a:rPr lang="ru-RU" sz="1300" b="1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Реверс-рекрутинг (LHH). Кандидат подтверждает грейд KITE IRT один раз, а работодатель выходит с открытой вилкой ЗП в рублях.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title"/>
          </p:nvPr>
        </p:nvSpPr>
        <p:spPr>
          <a:xfrm>
            <a:off x="527400" y="181080"/>
            <a:ext cx="55746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ПРОБЛЕМА РЫНКА IT-НАЙМА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CC4D842-BDC8-488D-89E6-31FA6344560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Скругленный прямоугольник 3"/>
          <p:cNvSpPr/>
          <p:nvPr/>
        </p:nvSpPr>
        <p:spPr>
          <a:xfrm>
            <a:off x="325080" y="1304280"/>
            <a:ext cx="11541240" cy="5051880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/>
          </p:nvPr>
        </p:nvSpPr>
        <p:spPr>
          <a:xfrm>
            <a:off x="623880" y="1556280"/>
            <a:ext cx="10789200" cy="365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1. Многомерный банк кандидатов: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24 верифицированные категории (6 специализаций x 4 грейда Junior/Middle/Senior/Lead).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Поиск по 88 городам РФ, стеку и подтвержденным спортивным разрядам ФСП (КМС, МС, 1Р-3Р).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Анонимизация профилей (#C-XX) до явного взаимного интереса (защита от спама и предвзятости).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2. Математический инвариант честной вилки ЗП (Критерий ТЗ 35%):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Строго рублевая шкала (RUB / ₽). Запрет формулировок «по договоренности» и скрытых условий.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Жесткий доменный инвариант в UI, API и БД: salary_min &gt; 0, salary_max &gt;= salary_min, max/min &lt;= 3.5x.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100% защита соискателя от манипуляций и нереалистичных зарплатных спредов.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3. Динамическая воронка и шортлисты (is_pinned):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Атомарное закрепление талантов (is_pinned) в шортлист без потери при смене фильтров.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4-осевой радар соответствия (KITE тест, Стек, ФСП, Свежесть) в палитре брендбука ФСП.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Отправка персонализированных офферов кандидатам прямо из банка талантов в 1 клик.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sldNum" idx="66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4D9C8CFC-A63C-4315-811B-16B60586C62D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title"/>
          </p:nvPr>
        </p:nvSpPr>
        <p:spPr>
          <a:xfrm>
            <a:off x="533160" y="326160"/>
            <a:ext cx="599436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КАДРОВЫЙ БАНК ТАЛАНТОВ И ЭКОНОМИКА НАЙМА (35% 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Скругленный прямоугольник 8"/>
          <p:cNvSpPr/>
          <p:nvPr/>
        </p:nvSpPr>
        <p:spPr>
          <a:xfrm>
            <a:off x="345960" y="266040"/>
            <a:ext cx="5354280" cy="6331320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69" name="PlaceHolder 1"/>
          <p:cNvSpPr>
            <a:spLocks noGrp="1"/>
          </p:cNvSpPr>
          <p:nvPr>
            <p:ph type="sldNum" idx="67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8F7277D-8478-48BA-8E0A-29AA89F91CB3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title"/>
          </p:nvPr>
        </p:nvSpPr>
        <p:spPr>
          <a:xfrm>
            <a:off x="622080" y="379800"/>
            <a:ext cx="5199480" cy="65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ДВУХРЕЖИМНОЕ РАНЖИРОВАНИЕ И РАВНОПРАВИЕ СОИСКАТЕЛЕЙ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pic>
        <p:nvPicPr>
          <p:cNvPr id="271" name="Рисунок 3"/>
          <p:cNvPicPr/>
          <p:nvPr/>
        </p:nvPicPr>
        <p:blipFill>
          <a:blip r:embed="rId2"/>
          <a:stretch/>
        </p:blipFill>
        <p:spPr>
          <a:xfrm>
            <a:off x="5700240" y="900000"/>
            <a:ext cx="6491160" cy="50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595440" y="1143720"/>
            <a:ext cx="4807440" cy="4627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ФОРМУЛА ДЛЯ КАНДИДАТОВ С ФСП ID: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Score = 0.40 · S_test + 0.25 · S_stack + 0.20 · S_fsp + 0.15 · S_freshness</a:t>
            </a:r>
            <a:endParaRPr lang="ru-RU" sz="13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Спортивный статус (КМС, МС, медали) учитывается как весомое достижение.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ДИНАМИЧЕСКАЯ ПЕРЕАЛЛОКАЦИЯ ДЛЯ КАНДИДАТОВ БЕЗ ФСП (Non-FSP):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520978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Score = 0.52 · S_test + 0.30 · S_stack + 0.00 · S_fsp + 0.18 · S_freshness</a:t>
            </a:r>
            <a:endParaRPr lang="ru-RU" sz="13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Вес спортивного блока (0.20) строго пропорционально перераспределяется в инженерные факторы.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</a:pP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МАТЕМАТИЧЕСКОЕ ДОКАЗАТЕЛЬСТВО РАВНОПРАВИЯ (Zero Glass Ceiling):</a:t>
            </a:r>
            <a:endParaRPr lang="ru-RU" sz="14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Теоретический максимум без ФСП: 0.52(100) + 0.30(100) + 0.18(100) = 100.0 баллов.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Сильный инженер без ФСП (S=95.52) уверенно побеждает слабого олимпиадника с КМС (S=76.95).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Разряд ФСП не дает поблажек: побеждает практический инженерный профессионализм!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33520" y="172800"/>
            <a:ext cx="556200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ПСИХОМЕТРИЧЕСКОЕ ЯДРО KITE IRT 3PL (25% </a:t>
            </a: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521280" y="1694880"/>
            <a:ext cx="11199600" cy="6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1. Модель Бирнбаума 3PL: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P_i(θ) = c_i + (1 - c_i) / (1 + exp(-1.7 a_i (θ - b_i)))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Вероятность верного ответа с учетом сложности b_i, дискриминативности a_i и угадывания c_i.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521280" y="2552040"/>
            <a:ext cx="11199600" cy="6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2. Параметры тестовых заданий: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a_i ∈ [1.2, 2.3],  b_i ∈ [-2.5, +2.5],  c_i ∈ [0.00, 0.20]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288 откалиброванных заданий: 6 специализаций x 4 грейда x 12 задач.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521280" y="3409200"/>
            <a:ext cx="11199600" cy="6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3. Байесовское EAP-оценивание: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θ_EAP = E[θ | u] по 61 узлу квадратуры Гаусса в [-4, +4]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Стабилизация log-sum-exp исключает переполнение при крайних векторах ответов.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/>
          </p:nvPr>
        </p:nvSpPr>
        <p:spPr>
          <a:xfrm>
            <a:off x="521280" y="4266000"/>
            <a:ext cx="11199600" cy="6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4. Информация Фишера и погрешность: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SEM(θ) = 1 / sqrt(I(θ)) &lt;= 0.32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Надежность теста r_xx &gt;= 0.90 — полное соответствие стандарту High-Stakes Testing.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/>
          </p:nvPr>
        </p:nvSpPr>
        <p:spPr>
          <a:xfrm>
            <a:off x="521280" y="5123160"/>
            <a:ext cx="11199600" cy="6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5. Непринудительный адаптивный грейдинг: </a:t>
            </a: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Grade_final = max(Grade_confirmed, Grade_declared)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Нулевой штраф при неудачах, моментальный ретест и Risk-Free Boost при θ &gt;= 88.0.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279" name="PlaceHolder 7"/>
          <p:cNvSpPr>
            <a:spLocks noGrp="1"/>
          </p:cNvSpPr>
          <p:nvPr>
            <p:ph type="sldNum" idx="68"/>
          </p:nvPr>
        </p:nvSpPr>
        <p:spPr>
          <a:xfrm>
            <a:off x="11441520" y="6356520"/>
            <a:ext cx="558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A5AC7AB3-BA6C-46B5-94D1-D6332F374F47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80" name="Прямая соединительная линия 1"/>
          <p:cNvCxnSpPr/>
          <p:nvPr/>
        </p:nvCxnSpPr>
        <p:spPr>
          <a:xfrm>
            <a:off x="520920" y="1604520"/>
            <a:ext cx="113364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81" name="Прямая соединительная линия 3"/>
          <p:cNvCxnSpPr/>
          <p:nvPr/>
        </p:nvCxnSpPr>
        <p:spPr>
          <a:xfrm>
            <a:off x="520920" y="2465280"/>
            <a:ext cx="113364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82" name="Прямая соединительная линия 12"/>
          <p:cNvCxnSpPr/>
          <p:nvPr/>
        </p:nvCxnSpPr>
        <p:spPr>
          <a:xfrm>
            <a:off x="520920" y="3342600"/>
            <a:ext cx="113364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83" name="Прямая соединительная линия 13"/>
          <p:cNvCxnSpPr/>
          <p:nvPr/>
        </p:nvCxnSpPr>
        <p:spPr>
          <a:xfrm>
            <a:off x="520920" y="4182840"/>
            <a:ext cx="113364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  <p:cxnSp>
        <p:nvCxnSpPr>
          <p:cNvPr id="284" name="Прямая соединительная линия 14"/>
          <p:cNvCxnSpPr/>
          <p:nvPr/>
        </p:nvCxnSpPr>
        <p:spPr>
          <a:xfrm>
            <a:off x="520920" y="5047920"/>
            <a:ext cx="11336400" cy="360"/>
          </a:xfrm>
          <a:prstGeom prst="straightConnector1">
            <a:avLst/>
          </a:prstGeom>
          <a:ln w="12700">
            <a:solidFill>
              <a:srgbClr val="520977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Скругленный прямоугольник 9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86" name="Скругленный прямоугольник 22"/>
          <p:cNvSpPr/>
          <p:nvPr/>
        </p:nvSpPr>
        <p:spPr>
          <a:xfrm>
            <a:off x="328860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87" name="Скругленный прямоугольник 23"/>
          <p:cNvSpPr/>
          <p:nvPr/>
        </p:nvSpPr>
        <p:spPr>
          <a:xfrm>
            <a:off x="623088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88" name="Скругленный прямоугольник 24"/>
          <p:cNvSpPr/>
          <p:nvPr/>
        </p:nvSpPr>
        <p:spPr>
          <a:xfrm>
            <a:off x="917316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89" name="Скругленный прямоугольник 26"/>
          <p:cNvSpPr/>
          <p:nvPr/>
        </p:nvSpPr>
        <p:spPr>
          <a:xfrm>
            <a:off x="345960" y="1522080"/>
            <a:ext cx="2672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sldNum" idx="69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2A3C1A05-27EA-4875-82DE-85E82D6CB90F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hasCustomPrompt="1"/>
          </p:nvPr>
        </p:nvSpPr>
        <p:spPr>
          <a:xfrm>
            <a:off x="520920" y="2339640"/>
            <a:ext cx="2399760" cy="3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Криптографический сид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hasCustomPrompt="1"/>
          </p:nvPr>
        </p:nvSpPr>
        <p:spPr>
          <a:xfrm>
            <a:off x="520920" y="3128760"/>
            <a:ext cx="228384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Seed = HMAC-SHA256(Secret, seed || candidate_id || task_id). Детерминированная мутация входных данных и скрытых тестов.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 hasCustomPrompt="1"/>
          </p:nvPr>
        </p:nvSpPr>
        <p:spPr>
          <a:xfrm>
            <a:off x="3457800" y="2373480"/>
            <a:ext cx="239976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Пространство вариантов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4" name="PlaceHolder 5"/>
          <p:cNvSpPr>
            <a:spLocks noGrp="1"/>
          </p:cNvSpPr>
          <p:nvPr>
            <p:ph hasCustomPrompt="1"/>
          </p:nvPr>
        </p:nvSpPr>
        <p:spPr>
          <a:xfrm>
            <a:off x="3457800" y="3134160"/>
            <a:ext cx="233712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Более 530 000 уникальных состояний на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каждое задание. Вероятность коллизии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одинаковых условий &lt; 0.0002%.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5" name="PlaceHolder 6"/>
          <p:cNvSpPr>
            <a:spLocks noGrp="1"/>
          </p:cNvSpPr>
          <p:nvPr>
            <p:ph hasCustomPrompt="1"/>
          </p:nvPr>
        </p:nvSpPr>
        <p:spPr>
          <a:xfrm>
            <a:off x="6456240" y="2379600"/>
            <a:ext cx="239976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Сохранение сложности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6" name="PlaceHolder 7"/>
          <p:cNvSpPr>
            <a:spLocks noGrp="1"/>
          </p:cNvSpPr>
          <p:nvPr>
            <p:ph hasCustomPrompt="1"/>
          </p:nvPr>
        </p:nvSpPr>
        <p:spPr>
          <a:xfrm>
            <a:off x="6456240" y="3136680"/>
            <a:ext cx="226800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Топология алгоритма, асимптотическая сложность O(N log N) и психометрические веса (a, b, c) неизменны.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7" name="PlaceHolder 8"/>
          <p:cNvSpPr>
            <a:spLocks noGrp="1"/>
          </p:cNvSpPr>
          <p:nvPr>
            <p:ph hasCustomPrompt="1"/>
          </p:nvPr>
        </p:nvSpPr>
        <p:spPr>
          <a:xfrm>
            <a:off x="9407520" y="2339640"/>
            <a:ext cx="2399760" cy="3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Защита от Telegram/AI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8" name="PlaceHolder 9"/>
          <p:cNvSpPr>
            <a:spLocks noGrp="1"/>
          </p:cNvSpPr>
          <p:nvPr>
            <p:ph hasCustomPrompt="1"/>
          </p:nvPr>
        </p:nvSpPr>
        <p:spPr>
          <a:xfrm>
            <a:off x="9407520" y="3128760"/>
            <a:ext cx="226332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Бессмысленность публикации ответов в сети. 10 скрытых тестов отсекают подгонку кода и шпаргалки.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299" name="PlaceHolder 10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ЗАЩИТА ОТ УТЕЧЕК И ИЗОМОРФНЫЙ ГЕНЕРАТОР ЗАДАЧ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00" name="PlaceHolder 11"/>
          <p:cNvSpPr>
            <a:spLocks noGrp="1"/>
          </p:cNvSpPr>
          <p:nvPr>
            <p:ph hasCustomPrompt="1"/>
          </p:nvPr>
        </p:nvSpPr>
        <p:spPr>
          <a:xfrm>
            <a:off x="520920" y="1772280"/>
            <a:ext cx="23997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HMAC-SHA256</a:t>
            </a:r>
            <a:endParaRPr lang="ru-RU" sz="15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1" name="PlaceHolder 12"/>
          <p:cNvSpPr>
            <a:spLocks noGrp="1"/>
          </p:cNvSpPr>
          <p:nvPr>
            <p:ph hasCustomPrompt="1"/>
          </p:nvPr>
        </p:nvSpPr>
        <p:spPr>
          <a:xfrm>
            <a:off x="3449880" y="1766160"/>
            <a:ext cx="23997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5.3 × 10⁵</a:t>
            </a:r>
            <a:endParaRPr lang="ru-RU" sz="15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2" name="PlaceHolder 13"/>
          <p:cNvSpPr>
            <a:spLocks noGrp="1"/>
          </p:cNvSpPr>
          <p:nvPr>
            <p:ph hasCustomPrompt="1"/>
          </p:nvPr>
        </p:nvSpPr>
        <p:spPr>
          <a:xfrm>
            <a:off x="6456240" y="1766160"/>
            <a:ext cx="23997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Инвариант O(N)</a:t>
            </a:r>
            <a:endParaRPr lang="ru-RU" sz="15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3" name="PlaceHolder 14"/>
          <p:cNvSpPr>
            <a:spLocks noGrp="1"/>
          </p:cNvSpPr>
          <p:nvPr>
            <p:ph hasCustomPrompt="1"/>
          </p:nvPr>
        </p:nvSpPr>
        <p:spPr>
          <a:xfrm>
            <a:off x="9407520" y="1772280"/>
            <a:ext cx="239976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5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Анти-Слив</a:t>
            </a:r>
            <a:endParaRPr lang="ru-RU" sz="15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Скругленный прямоугольник 7"/>
          <p:cNvSpPr/>
          <p:nvPr/>
        </p:nvSpPr>
        <p:spPr>
          <a:xfrm>
            <a:off x="4419360" y="1522080"/>
            <a:ext cx="339912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5" name="Скругленный прямоугольник 8"/>
          <p:cNvSpPr/>
          <p:nvPr/>
        </p:nvSpPr>
        <p:spPr>
          <a:xfrm>
            <a:off x="836604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6" name="Скругленный прямоугольник 9"/>
          <p:cNvSpPr/>
          <p:nvPr/>
        </p:nvSpPr>
        <p:spPr>
          <a:xfrm>
            <a:off x="623880" y="1522080"/>
            <a:ext cx="3248280" cy="4678560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Num" idx="70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D1A1BD6A-7A09-4405-A87C-FFA4EF5625C5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hasCustomPrompt="1"/>
          </p:nvPr>
        </p:nvSpPr>
        <p:spPr>
          <a:xfrm>
            <a:off x="780480" y="2493000"/>
            <a:ext cx="2965320" cy="3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Локальный парсинг за 120 мс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hasCustomPrompt="1"/>
          </p:nvPr>
        </p:nvSpPr>
        <p:spPr>
          <a:xfrm>
            <a:off x="780480" y="3128760"/>
            <a:ext cx="296532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Drag-and-drop PDF до 15 МБ. Локальный движок PyMuPDF извлекает опыт, стек технологий и нормализует по справочнику 88 городов РФ.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hasCustomPrompt="1"/>
          </p:nvPr>
        </p:nvSpPr>
        <p:spPr>
          <a:xfrm>
            <a:off x="4623120" y="2493000"/>
            <a:ext cx="303444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Интерактивные чип-кнопки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1" name="PlaceHolder 5"/>
          <p:cNvSpPr>
            <a:spLocks noGrp="1"/>
          </p:cNvSpPr>
          <p:nvPr>
            <p:ph hasCustomPrompt="1"/>
          </p:nvPr>
        </p:nvSpPr>
        <p:spPr>
          <a:xfrm>
            <a:off x="4623120" y="3128760"/>
            <a:ext cx="303444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Распознанные специализация, целевой грейд, вилка ЗП и город предзаполняются на форме. Ручная корректировка в 1 клик перед отправкой.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2" name="PlaceHolder 6"/>
          <p:cNvSpPr>
            <a:spLocks noGrp="1"/>
          </p:cNvSpPr>
          <p:nvPr>
            <p:ph hasCustomPrompt="1"/>
          </p:nvPr>
        </p:nvSpPr>
        <p:spPr>
          <a:xfrm>
            <a:off x="8547840" y="2493000"/>
            <a:ext cx="294516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Адаптивная калибровка</a:t>
            </a:r>
            <a:endParaRPr lang="ru-RU" sz="13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3" name="PlaceHolder 7"/>
          <p:cNvSpPr>
            <a:spLocks noGrp="1"/>
          </p:cNvSpPr>
          <p:nvPr>
            <p:ph hasCustomPrompt="1"/>
          </p:nvPr>
        </p:nvSpPr>
        <p:spPr>
          <a:xfrm>
            <a:off x="8547840" y="3128760"/>
            <a:ext cx="2945160" cy="270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12 изоморфных задач, защита от утечек HMAC-SHA256, присвоение подтвержденной категории и мгновенный доступ к банку офферов.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4" name="PlaceHolder 8"/>
          <p:cNvSpPr>
            <a:spLocks noGrp="1"/>
          </p:cNvSpPr>
          <p:nvPr>
            <p:ph type="title"/>
          </p:nvPr>
        </p:nvSpPr>
        <p:spPr>
          <a:xfrm>
            <a:off x="525960" y="71640"/>
            <a:ext cx="6199560" cy="63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ОНБОРДИНГ СОИСКАТЕЛЯ И UX (10% 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15" name="PlaceHolder 9"/>
          <p:cNvSpPr>
            <a:spLocks noGrp="1"/>
          </p:cNvSpPr>
          <p:nvPr>
            <p:ph hasCustomPrompt="1"/>
          </p:nvPr>
        </p:nvSpPr>
        <p:spPr>
          <a:xfrm>
            <a:off x="780480" y="1772280"/>
            <a:ext cx="3299760" cy="51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Шаг 1: PDF Резюме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6" name="PlaceHolder 10"/>
          <p:cNvSpPr>
            <a:spLocks noGrp="1"/>
          </p:cNvSpPr>
          <p:nvPr>
            <p:ph hasCustomPrompt="1"/>
          </p:nvPr>
        </p:nvSpPr>
        <p:spPr>
          <a:xfrm>
            <a:off x="4615200" y="1766160"/>
            <a:ext cx="3299760" cy="48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Шаг 2: Автозаполнение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17" name="PlaceHolder 11"/>
          <p:cNvSpPr>
            <a:spLocks noGrp="1"/>
          </p:cNvSpPr>
          <p:nvPr>
            <p:ph hasCustomPrompt="1"/>
          </p:nvPr>
        </p:nvSpPr>
        <p:spPr>
          <a:xfrm>
            <a:off x="8547840" y="1766160"/>
            <a:ext cx="3299760" cy="4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6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Шаг 3: Тест KITE</a:t>
            </a:r>
            <a:endParaRPr lang="ru-RU" sz="16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Сервис Карта 1"/>
          <p:cNvSpPr/>
          <p:nvPr/>
        </p:nvSpPr>
        <p:spPr>
          <a:xfrm>
            <a:off x="450000" y="129996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Сервис Карта 2"/>
          <p:cNvSpPr/>
          <p:nvPr/>
        </p:nvSpPr>
        <p:spPr>
          <a:xfrm>
            <a:off x="450000" y="290016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Сервис Карта 3"/>
          <p:cNvSpPr/>
          <p:nvPr/>
        </p:nvSpPr>
        <p:spPr>
          <a:xfrm>
            <a:off x="450000" y="450000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Сервис Карта 4"/>
          <p:cNvSpPr/>
          <p:nvPr/>
        </p:nvSpPr>
        <p:spPr>
          <a:xfrm>
            <a:off x="6099840" y="129996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Сервис Карта 5"/>
          <p:cNvSpPr/>
          <p:nvPr/>
        </p:nvSpPr>
        <p:spPr>
          <a:xfrm>
            <a:off x="6099840" y="290016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Сервис Карта 6"/>
          <p:cNvSpPr/>
          <p:nvPr/>
        </p:nvSpPr>
        <p:spPr>
          <a:xfrm>
            <a:off x="6099840" y="4500000"/>
            <a:ext cx="5199480" cy="1449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Скругленный прямоугольник 22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Num" idx="71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954B91F-6384-4972-8E51-73150E727D77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hasCustomPrompt="1"/>
          </p:nvPr>
        </p:nvSpPr>
        <p:spPr>
          <a:xfrm>
            <a:off x="1616040" y="1428840"/>
            <a:ext cx="3866400" cy="3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Порт 80 (Шлюз)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hasCustomPrompt="1"/>
          </p:nvPr>
        </p:nvSpPr>
        <p:spPr>
          <a:xfrm>
            <a:off x="1616040" y="1996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Reverse Proxy, SSL, Gzip-сжатие, раздача React 19 SPA и встроенных шрифтов JetBrains Mono.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hasCustomPrompt="1"/>
          </p:nvPr>
        </p:nvSpPr>
        <p:spPr>
          <a:xfrm>
            <a:off x="1596600" y="3032640"/>
            <a:ext cx="386640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FastAPI Uvicorn :8000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29" name="PlaceHolder 5"/>
          <p:cNvSpPr>
            <a:spLocks noGrp="1"/>
          </p:cNvSpPr>
          <p:nvPr>
            <p:ph hasCustomPrompt="1"/>
          </p:nvPr>
        </p:nvSpPr>
        <p:spPr>
          <a:xfrm>
            <a:off x="1596600" y="3580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Python 3.12, Async SQLAlchemy 2.0, 14 модулей OpenAPI, KITE IRT 3PL, ATS вебхуки, ReportLab.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0" name="PlaceHolder 6"/>
          <p:cNvSpPr>
            <a:spLocks noGrp="1"/>
          </p:cNvSpPr>
          <p:nvPr>
            <p:ph hasCustomPrompt="1"/>
          </p:nvPr>
        </p:nvSpPr>
        <p:spPr>
          <a:xfrm>
            <a:off x="1596600" y="4617000"/>
            <a:ext cx="386640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Keycloak 26 :8080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1" name="PlaceHolder 7"/>
          <p:cNvSpPr>
            <a:spLocks noGrp="1"/>
          </p:cNvSpPr>
          <p:nvPr>
            <p:ph hasCustomPrompt="1"/>
          </p:nvPr>
        </p:nvSpPr>
        <p:spPr>
          <a:xfrm>
            <a:off x="1596600" y="5164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Quarkus, OIDC PKCE S256, роли candidate/employer/admin, сопоставление атрибута ФСП ID.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2" name="PlaceHolder 8"/>
          <p:cNvSpPr>
            <a:spLocks noGrp="1"/>
          </p:cNvSpPr>
          <p:nvPr>
            <p:ph hasCustomPrompt="1"/>
          </p:nvPr>
        </p:nvSpPr>
        <p:spPr>
          <a:xfrm>
            <a:off x="7288920" y="1428840"/>
            <a:ext cx="3866400" cy="3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PostgreSQL 16 :5432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3" name="PlaceHolder 9"/>
          <p:cNvSpPr>
            <a:spLocks noGrp="1"/>
          </p:cNvSpPr>
          <p:nvPr>
            <p:ph hasCustomPrompt="1"/>
          </p:nvPr>
        </p:nvSpPr>
        <p:spPr>
          <a:xfrm>
            <a:off x="7288920" y="1996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Схемы public и keycloak, CHECK-ограничения вилок зарплат, аудит-лог 152-ФЗ, объемы pgdata.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4" name="PlaceHolder 10"/>
          <p:cNvSpPr>
            <a:spLocks noGrp="1"/>
          </p:cNvSpPr>
          <p:nvPr>
            <p:ph hasCustomPrompt="1"/>
          </p:nvPr>
        </p:nvSpPr>
        <p:spPr>
          <a:xfrm>
            <a:off x="7269840" y="3032640"/>
            <a:ext cx="386640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35 защищенных путей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5" name="PlaceHolder 11"/>
          <p:cNvSpPr>
            <a:spLocks noGrp="1"/>
          </p:cNvSpPr>
          <p:nvPr>
            <p:ph hasCustomPrompt="1"/>
          </p:nvPr>
        </p:nvSpPr>
        <p:spPr>
          <a:xfrm>
            <a:off x="7269840" y="3580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Atomic Design, Tailwind CSS v4, Lucide Icons, 4-осевой радар соответствия, переключатель ролей жюри.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6" name="PlaceHolder 12"/>
          <p:cNvSpPr>
            <a:spLocks noGrp="1"/>
          </p:cNvSpPr>
          <p:nvPr>
            <p:ph hasCustomPrompt="1"/>
          </p:nvPr>
        </p:nvSpPr>
        <p:spPr>
          <a:xfrm>
            <a:off x="7269840" y="4617000"/>
            <a:ext cx="3866400" cy="313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Боевой сервер онлайн</a:t>
            </a:r>
            <a:endParaRPr lang="ru-RU" sz="12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7" name="PlaceHolder 13"/>
          <p:cNvSpPr>
            <a:spLocks noGrp="1"/>
          </p:cNvSpPr>
          <p:nvPr>
            <p:ph hasCustomPrompt="1"/>
          </p:nvPr>
        </p:nvSpPr>
        <p:spPr>
          <a:xfrm>
            <a:off x="7269840" y="5164560"/>
            <a:ext cx="3866400" cy="5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http://153.76.194.215 (Nginx :80), Swagger /docs, Keycloak /auth/, метрики /api/v1/demo/metrics.</a:t>
            </a:r>
            <a:endParaRPr lang="ru-RU" sz="120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38" name="PlaceHolder 14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АРХИТЕКТУРА РЕШЕНИЯ И LIVE PRODUCTION (7% 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39" name="PlaceHolder 15"/>
          <p:cNvSpPr>
            <a:spLocks noGrp="1"/>
          </p:cNvSpPr>
          <p:nvPr>
            <p:ph hasCustomPrompt="1"/>
          </p:nvPr>
        </p:nvSpPr>
        <p:spPr>
          <a:xfrm>
            <a:off x="520920" y="139392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Nginx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0" name="PlaceHolder 16"/>
          <p:cNvSpPr>
            <a:spLocks noGrp="1"/>
          </p:cNvSpPr>
          <p:nvPr>
            <p:ph hasCustomPrompt="1"/>
          </p:nvPr>
        </p:nvSpPr>
        <p:spPr>
          <a:xfrm>
            <a:off x="501480" y="299808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FastAPI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1" name="PlaceHolder 17"/>
          <p:cNvSpPr>
            <a:spLocks noGrp="1"/>
          </p:cNvSpPr>
          <p:nvPr>
            <p:ph hasCustomPrompt="1"/>
          </p:nvPr>
        </p:nvSpPr>
        <p:spPr>
          <a:xfrm>
            <a:off x="501480" y="458208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Keycloak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2" name="PlaceHolder 18"/>
          <p:cNvSpPr>
            <a:spLocks noGrp="1"/>
          </p:cNvSpPr>
          <p:nvPr>
            <p:ph hasCustomPrompt="1"/>
          </p:nvPr>
        </p:nvSpPr>
        <p:spPr>
          <a:xfrm>
            <a:off x="6194160" y="139392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Postgres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3" name="PlaceHolder 19"/>
          <p:cNvSpPr>
            <a:spLocks noGrp="1"/>
          </p:cNvSpPr>
          <p:nvPr>
            <p:ph hasCustomPrompt="1"/>
          </p:nvPr>
        </p:nvSpPr>
        <p:spPr>
          <a:xfrm>
            <a:off x="6174720" y="299808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React 19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4" name="PlaceHolder 20"/>
          <p:cNvSpPr>
            <a:spLocks noGrp="1"/>
          </p:cNvSpPr>
          <p:nvPr>
            <p:ph hasCustomPrompt="1"/>
          </p:nvPr>
        </p:nvSpPr>
        <p:spPr>
          <a:xfrm>
            <a:off x="6174720" y="4582080"/>
            <a:ext cx="1199520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Production</a:t>
            </a:r>
            <a:endParaRPr lang="ru-RU" sz="1350" b="0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Скругленный прямоугольник 1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sldNum" idx="72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C77A432D-C64C-4BF9-8147-6D481872EB83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7" name="Рисунок 2"/>
          <p:cNvPicPr/>
          <p:nvPr/>
        </p:nvPicPr>
        <p:blipFill>
          <a:blip r:embed="rId2"/>
          <a:stretch/>
        </p:blipFill>
        <p:spPr>
          <a:xfrm>
            <a:off x="7439760" y="1316520"/>
            <a:ext cx="4405320" cy="247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Рисунок 3"/>
          <p:cNvPicPr/>
          <p:nvPr/>
        </p:nvPicPr>
        <p:blipFill>
          <a:blip r:embed="rId3"/>
          <a:stretch/>
        </p:blipFill>
        <p:spPr>
          <a:xfrm>
            <a:off x="7380000" y="4320000"/>
            <a:ext cx="4500000" cy="21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Текст 5"/>
          <p:cNvSpPr/>
          <p:nvPr/>
        </p:nvSpPr>
        <p:spPr>
          <a:xfrm>
            <a:off x="345960" y="1015920"/>
            <a:ext cx="6805800" cy="2029680"/>
          </a:xfrm>
          <a:prstGeom prst="roundRect">
            <a:avLst>
              <a:gd name="adj" fmla="val 10128"/>
            </a:avLst>
          </a:prstGeom>
          <a:solidFill>
            <a:schemeClr val="bg1"/>
          </a:solidFill>
          <a:ln w="0">
            <a:solidFill>
              <a:srgbClr val="520977"/>
            </a:solidFill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1. ДВУХКОНТУРНОЕ МАСКИРОВАНИЕ ПЕРСОНАЛЬНЫХ ДАННЫХ (Zero-Trust Privacy):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До явного взаимного согласия (status='accepted') работодатель видит ТОЛЬКО анонимизированный срез: ID (#C-XX), грейд, стек, KITE балл, город.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ФИО, телефон, email, TG, GitHub скрыты масками и хэшами на уровне Pydantic-сериализатора бэкенда.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Multi-Tenant Isolation: раскрытие контактов для Компании А не демаскирует кандидата для Компании Б.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8880">
              <a:lnSpc>
                <a:spcPct val="90000"/>
              </a:lnSpc>
              <a:spcBef>
                <a:spcPts val="632"/>
              </a:spcBef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2. ПОЛНЫЙ КОМПЛАЕНС 152-ФЗ РФ (Защита прав субъекта данных):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ст. 9: Информированное согласие на обработку при регистрации с фиксацией IP и User-Agent.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ст. 10.1: Отдельное регулируемое согласие на распространение данных в Банке талантов.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ст. 14: Выгрузка машиночитаемого JSON/ZIP архива всех персональных данных субъекта в 1 клик.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ст. 21: Моментальный отзыв согласия с немедленным скрытием профиля из каталога поиска.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578880">
              <a:lnSpc>
                <a:spcPct val="90000"/>
              </a:lnSpc>
              <a:spcBef>
                <a:spcPts val="632"/>
              </a:spcBef>
            </a:pP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3. НЕИЗМЕНЯЕМЫЙ ЖУРНАЛ АУДИТА (audit_logs):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Логирование каждого факта доступа к контактам (UNMASK_CONTACTS_152FZ) с точным IP, User-Agent и timestamp.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Административный дашборд офицера безопасности с автоматической детекцией аномалий и скрейпинга.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ИНФОРМАЦИОННАЯ БЕЗОПАСНОСТЬ И 152-ФЗ РФ (6% 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Скругленный прямоугольник 1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52" name="Скругленный прямоугольник 16"/>
          <p:cNvSpPr/>
          <p:nvPr/>
        </p:nvSpPr>
        <p:spPr>
          <a:xfrm>
            <a:off x="5951880" y="136656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3" name="Скругленный прямоугольник 17"/>
          <p:cNvSpPr/>
          <p:nvPr/>
        </p:nvSpPr>
        <p:spPr>
          <a:xfrm>
            <a:off x="5951880" y="23770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4" name="Скругленный прямоугольник 18"/>
          <p:cNvSpPr/>
          <p:nvPr/>
        </p:nvSpPr>
        <p:spPr>
          <a:xfrm>
            <a:off x="5951880" y="33876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5" name="Скругленный прямоугольник 22"/>
          <p:cNvSpPr/>
          <p:nvPr/>
        </p:nvSpPr>
        <p:spPr>
          <a:xfrm>
            <a:off x="5951880" y="439848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6" name="Скругленный прямоугольник 23"/>
          <p:cNvSpPr/>
          <p:nvPr/>
        </p:nvSpPr>
        <p:spPr>
          <a:xfrm>
            <a:off x="5951880" y="5409000"/>
            <a:ext cx="5905080" cy="791280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7" name="Скругленный прямоугольник 14"/>
          <p:cNvSpPr/>
          <p:nvPr/>
        </p:nvSpPr>
        <p:spPr>
          <a:xfrm>
            <a:off x="345960" y="1366560"/>
            <a:ext cx="5389200" cy="4834080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>
            <a:solidFill>
              <a:srgbClr val="5209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hasCustomPrompt="1"/>
          </p:nvPr>
        </p:nvSpPr>
        <p:spPr>
          <a:xfrm>
            <a:off x="623880" y="1731960"/>
            <a:ext cx="4733640" cy="404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1. АНТИФРОД КОМПАНИЙ:</a:t>
            </a:r>
            <a:endParaRPr lang="ru-RU" sz="13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Валидация контрольных разрядов ИНН по весовым матрицам ФНС РФ (10 цифр для юрлиц, 12 для ИП).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Фильтрация корпоративных доменов: запрет публичных почтовых сервисов (mail.ru, gmail.com).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Trust Score работодателя и суточный лимит 20 приглашений исключают спам.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endParaRPr lang="ru-RU" sz="14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5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2. АВТОНОМНЫЙ REPORTLAB PDF:</a:t>
            </a:r>
            <a:endParaRPr lang="ru-RU" sz="13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Генерация брендированного PDF-резюме за 180 мс без внешних библиотек и CDN.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Mode A: Анонимизированный профиль с водяным знаком «152-ФЗ» для скаутинга.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  <a:p>
            <a:pPr indent="0" algn="ctr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Mode B: Полное досье с разрядом ФСП и QR-кодом проверки подлинности.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6172560" y="1445400"/>
            <a:ext cx="54601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Корпоративные ATS-вебхуки: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Доставка событий откликов и согласий соискателей в Huntflow, HeadHunter, E-Staff.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/>
          </p:nvPr>
        </p:nvSpPr>
        <p:spPr>
          <a:xfrm>
            <a:off x="6172560" y="2472840"/>
            <a:ext cx="54601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HMAC-SHA256 подпись: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Криптографическая подпись каждого вебхука в заголовке X-FSP-Signature.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1" name="PlaceHolder 4"/>
          <p:cNvSpPr>
            <a:spLocks noGrp="1"/>
          </p:cNvSpPr>
          <p:nvPr>
            <p:ph/>
          </p:nvPr>
        </p:nvSpPr>
        <p:spPr>
          <a:xfrm>
            <a:off x="6172560" y="3485880"/>
            <a:ext cx="54601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Защита от Replay-атак: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Валидация временной метки с 300-секундным окном исключает перехват запросов.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2" name="PlaceHolder 5"/>
          <p:cNvSpPr>
            <a:spLocks noGrp="1"/>
          </p:cNvSpPr>
          <p:nvPr>
            <p:ph/>
          </p:nvPr>
        </p:nvSpPr>
        <p:spPr>
          <a:xfrm>
            <a:off x="6172560" y="4496760"/>
            <a:ext cx="54601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Dead Letter Queue (DLQ):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Экспоненциальный бэкофф повторов при сетевых сбоях — 0% потери кандидатов.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3" name="PlaceHolder 6"/>
          <p:cNvSpPr>
            <a:spLocks noGrp="1"/>
          </p:cNvSpPr>
          <p:nvPr>
            <p:ph/>
          </p:nvPr>
        </p:nvSpPr>
        <p:spPr>
          <a:xfrm>
            <a:off x="6172560" y="5517000"/>
            <a:ext cx="5460120" cy="50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indent="0" algn="l" defTabSz="578880">
              <a:lnSpc>
                <a:spcPct val="90000"/>
              </a:lnSpc>
              <a:spcBef>
                <a:spcPts val="632"/>
              </a:spcBef>
              <a:buNone/>
              <a:tabLst>
                <a:tab pos="0" algn="l"/>
              </a:tabLst>
            </a:pPr>
            <a:r>
              <a:rPr lang="ru-RU" sz="1300" b="1" u="none" strike="noStrike">
                <a:solidFill>
                  <a:srgbClr val="520978"/>
                </a:solidFill>
                <a:effectLst/>
                <a:uFillTx/>
                <a:latin typeface="Montserrat"/>
                <a:ea typeface="Montserrat"/>
              </a:rPr>
              <a:t>Готовность к Enterprise: </a:t>
            </a:r>
            <a:r>
              <a:rPr lang="ru-RU" sz="12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Бесшовное встраивание платформы в корпоративный контур заказчика за 1 день.</a:t>
            </a:r>
            <a:endParaRPr lang="ru-RU" sz="12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64" name="PlaceHolder 7"/>
          <p:cNvSpPr>
            <a:spLocks noGrp="1"/>
          </p:cNvSpPr>
          <p:nvPr>
            <p:ph type="sldNum" idx="73"/>
          </p:nvPr>
        </p:nvSpPr>
        <p:spPr>
          <a:xfrm>
            <a:off x="11633040" y="6356520"/>
            <a:ext cx="558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77B5846D-D671-4FF8-AE90-D5AF44B5A81D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PlaceHolder 8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ПРОДВИНУТЫЙ ФУНКЦИОНАЛ И ИНТЕГРАЦИИ (7% ТЗ)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Скругленный прямоугольник 13"/>
          <p:cNvSpPr/>
          <p:nvPr/>
        </p:nvSpPr>
        <p:spPr>
          <a:xfrm>
            <a:off x="6286680" y="474732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67" name="Скругленный прямоугольник 11"/>
          <p:cNvSpPr/>
          <p:nvPr/>
        </p:nvSpPr>
        <p:spPr>
          <a:xfrm>
            <a:off x="6286680" y="283248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68" name="Скругленный прямоугольник 10"/>
          <p:cNvSpPr/>
          <p:nvPr/>
        </p:nvSpPr>
        <p:spPr>
          <a:xfrm>
            <a:off x="6286680" y="917640"/>
            <a:ext cx="5570280" cy="1666440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dk1"/>
              </a:solidFill>
              <a:effectLst/>
              <a:uFillTx/>
              <a:latin typeface="Montserrat"/>
            </a:endParaRPr>
          </a:p>
        </p:txBody>
      </p:sp>
      <p:sp>
        <p:nvSpPr>
          <p:cNvPr id="369" name="Скругленный прямоугольник 1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70" name="Текст 2"/>
          <p:cNvSpPr/>
          <p:nvPr/>
        </p:nvSpPr>
        <p:spPr>
          <a:xfrm>
            <a:off x="6591600" y="1049760"/>
            <a:ext cx="4789800" cy="59760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8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NDCG@5 = 0.9907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/>
          </p:nvPr>
        </p:nvSpPr>
        <p:spPr>
          <a:xfrm>
            <a:off x="6591600" y="1649880"/>
            <a:ext cx="4789800" cy="68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Порог ТЗ &gt;= 0.8500 (+16.5% запаса). Mean NDCG@10 = 0.9912. Идеальная ранжирующая способность многофакторного скоринга на 15 потребностях.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72" name="Текст 4"/>
          <p:cNvSpPr/>
          <p:nvPr/>
        </p:nvSpPr>
        <p:spPr>
          <a:xfrm>
            <a:off x="6591600" y="2915640"/>
            <a:ext cx="4789800" cy="56304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8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Precision@5 = 0.9840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591600" y="3515760"/>
            <a:ext cx="4789800" cy="77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Порог ТЗ &gt;= 0.8000 (+23.0% запаса). Ранговая корреляция Спирмена ρ = 0.941. В топ-5 попадают только релевантные инженеры с подтвержденным грейдом.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74" name="Текст 6"/>
          <p:cNvSpPr/>
          <p:nvPr/>
        </p:nvSpPr>
        <p:spPr>
          <a:xfrm>
            <a:off x="6591600" y="4871880"/>
            <a:ext cx="4789800" cy="59760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8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Reliability r_xx = 0.9856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6591600" y="5471640"/>
            <a:ext cx="4789800" cy="757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30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Порог ТЗ &gt;= 0.8500. Item Discrimination D = 0.5162, Leak Resistance = 0.9715. 205 тестов pytest + 100 vitest — 100% pass.</a:t>
            </a:r>
            <a:endParaRPr lang="ru-RU" sz="130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graphicFrame>
        <p:nvGraphicFramePr>
          <p:cNvPr id="376" name="Диаграмма 9"/>
          <p:cNvGraphicFramePr/>
          <p:nvPr/>
        </p:nvGraphicFramePr>
        <p:xfrm>
          <a:off x="345960" y="1424520"/>
          <a:ext cx="5749560" cy="440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77" name="PlaceHolder 4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ЗОЛОТОЙ ВАЛИДАЦИОННЫЙ БЕНЧМАРК (900 ПАР)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3DC0E7C-9C2A-4BE4-8F95-F115AB0891F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Скругленный прямоугольник 1"/>
          <p:cNvSpPr/>
          <p:nvPr/>
        </p:nvSpPr>
        <p:spPr>
          <a:xfrm>
            <a:off x="345960" y="324720"/>
            <a:ext cx="9999720" cy="620640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ru-RU" sz="1800" b="1" u="none" strike="noStrike">
              <a:solidFill>
                <a:schemeClr val="accent2"/>
              </a:solidFill>
              <a:effectLst/>
              <a:uFillTx/>
              <a:latin typeface="Montserrat"/>
            </a:endParaRPr>
          </a:p>
        </p:txBody>
      </p:sp>
      <p:sp>
        <p:nvSpPr>
          <p:cNvPr id="379" name="PlaceHolder 1"/>
          <p:cNvSpPr>
            <a:spLocks noGrp="1"/>
          </p:cNvSpPr>
          <p:nvPr>
            <p:ph type="sldNum" idx="74"/>
          </p:nvPr>
        </p:nvSpPr>
        <p:spPr>
          <a:xfrm>
            <a:off x="11413440" y="6356520"/>
            <a:ext cx="5587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fld id="{F3297F3E-9387-414C-B748-528EB2B9C7D2}" type="slidenum">
              <a:rPr lang="ru-RU" sz="1200" b="0" u="none" strike="noStrike">
                <a:solidFill>
                  <a:schemeClr val="accent5"/>
                </a:solidFill>
                <a:effectLst/>
                <a:uFillTx/>
                <a:latin typeface="Montserrat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Текст 2"/>
          <p:cNvSpPr/>
          <p:nvPr/>
        </p:nvSpPr>
        <p:spPr>
          <a:xfrm>
            <a:off x="6755400" y="134316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Экономический эффект для компаний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6755400" y="1722960"/>
            <a:ext cx="4789800" cy="5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Сокращение Time-to-Hire с 45 до 14 дней (-68%). Экономия до 250 000 ₽ на закрытии вакансии. Высвобождение 40+ часов тимлидов в месяц от пустых CV-скринингов.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82" name="Текст 4"/>
          <p:cNvSpPr/>
          <p:nvPr/>
        </p:nvSpPr>
        <p:spPr>
          <a:xfrm>
            <a:off x="6755400" y="261180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B2B-Монетизация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/>
          </p:nvPr>
        </p:nvSpPr>
        <p:spPr>
          <a:xfrm>
            <a:off x="6755400" y="2991240"/>
            <a:ext cx="4789800" cy="5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Корпоративная подписка на доступ к верифицированному Банку талантов ФСП. Фиксированный Success Fee за подтвержденный выход кандидата на работу.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84" name="Текст 6"/>
          <p:cNvSpPr/>
          <p:nvPr/>
        </p:nvSpPr>
        <p:spPr>
          <a:xfrm>
            <a:off x="6755400" y="388044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Дорожная карта 2026–2027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/>
          </p:nvPr>
        </p:nvSpPr>
        <p:spPr>
          <a:xfrm>
            <a:off x="6755400" y="4259880"/>
            <a:ext cx="4789800" cy="5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Q3 2026: интеграция с ЕСИА (Госуслуги) и Минспортом РФ. Q4 2026: масштабирование на все 89 региональных отделений ФСП. 2027: AI-конструктор инженерных команд.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sp>
        <p:nvSpPr>
          <p:cNvPr id="386" name="Текст 8"/>
          <p:cNvSpPr/>
          <p:nvPr/>
        </p:nvSpPr>
        <p:spPr>
          <a:xfrm>
            <a:off x="6755400" y="5149080"/>
            <a:ext cx="4789800" cy="1021320"/>
          </a:xfrm>
          <a:prstGeom prst="roundRect">
            <a:avLst>
              <a:gd name="adj" fmla="val 0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marL="144720" indent="-144720" defTabSz="578880">
              <a:lnSpc>
                <a:spcPct val="90000"/>
              </a:lnSpc>
              <a:spcBef>
                <a:spcPts val="632"/>
              </a:spcBef>
              <a:buClr>
                <a:srgbClr val="FF0053"/>
              </a:buClr>
              <a:buFont typeface="Arial"/>
              <a:buChar char="•"/>
            </a:pPr>
            <a:r>
              <a:rPr lang="ru-RU" sz="1400" b="1" u="none" strike="noStrike">
                <a:solidFill>
                  <a:srgbClr val="FF0053"/>
                </a:solidFill>
                <a:effectLst/>
                <a:uFillTx/>
                <a:latin typeface="Montserrat"/>
                <a:ea typeface="Montserrat"/>
              </a:rPr>
              <a:t>Live Production Стенд онлайн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5"/>
          <p:cNvSpPr>
            <a:spLocks noGrp="1"/>
          </p:cNvSpPr>
          <p:nvPr>
            <p:ph/>
          </p:nvPr>
        </p:nvSpPr>
        <p:spPr>
          <a:xfrm>
            <a:off x="6755400" y="5528520"/>
            <a:ext cx="4789800" cy="55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spAutoFit/>
          </a:bodyPr>
          <a:p>
            <a:pPr marL="144720" indent="-144720" algn="l" defTabSz="578880">
              <a:lnSpc>
                <a:spcPct val="90000"/>
              </a:lnSpc>
              <a:spcBef>
                <a:spcPts val="632"/>
              </a:spcBef>
              <a:buClr>
                <a:srgbClr val="1C1D22"/>
              </a:buClr>
              <a:buFont typeface="Arial"/>
              <a:buChar char="•"/>
            </a:pPr>
            <a:r>
              <a:rPr lang="ru-RU" sz="1250" b="0" u="none" strike="noStrike">
                <a:solidFill>
                  <a:srgbClr val="1C1D22"/>
                </a:solidFill>
                <a:effectLst/>
                <a:uFillTx/>
                <a:latin typeface="Montserrat"/>
                <a:ea typeface="Montserrat"/>
              </a:rPr>
              <a:t>Сервер доступен жюри прямо сейчас: http://153.76.194.215. Учетные данные: athlete@fsp-russia.ru, hr@technobank.ru / пароль: fsp_secret_2026.</a:t>
            </a:r>
            <a:endParaRPr lang="ru-RU" sz="1250" b="0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  <p:graphicFrame>
        <p:nvGraphicFramePr>
          <p:cNvPr id="388" name="Диаграмма 11"/>
          <p:cNvGraphicFramePr/>
          <p:nvPr/>
        </p:nvGraphicFramePr>
        <p:xfrm>
          <a:off x="345960" y="1424520"/>
          <a:ext cx="5749560" cy="440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89" name="PlaceHolder 6"/>
          <p:cNvSpPr>
            <a:spLocks noGrp="1"/>
          </p:cNvSpPr>
          <p:nvPr>
            <p:ph type="title"/>
          </p:nvPr>
        </p:nvSpPr>
        <p:spPr>
          <a:xfrm>
            <a:off x="525960" y="374040"/>
            <a:ext cx="9699480" cy="37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spAutoFit/>
          </a:bodyPr>
          <a:p>
            <a:pPr indent="0" algn="l" defTabSz="578880">
              <a:lnSpc>
                <a:spcPct val="90000"/>
              </a:lnSpc>
              <a:buNone/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БИЗНЕС-МОДЕЛЬ, ЭФФЕКТЫ И ROADMAP 2026–2027</a:t>
            </a:r>
            <a:endParaRPr lang="ru-RU" sz="2000" b="1" u="none" strike="noStrike">
              <a:solidFill>
                <a:schemeClr val="lt1">
                  <a:lumMod val="95000"/>
                </a:schemeClr>
              </a:solidFill>
              <a:effectLst/>
              <a:uFillTx/>
              <a:latin typeface="Montserra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11039</TotalTime>
  <Application>LibreOffice/26.2.6.3$Linux_X86_64 LibreOffice_project/620$Build-3</Application>
  <AppVersion>15.0000</AppVersion>
  <Words>632</Words>
  <Paragraphs>187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2023-05-15T07:36:23Z</dcterms:created>
  <dc:creator>Анастасия Юшкова</dc:creator>
  <dc:description/>
  <dc:language>ru-RU</dc:language>
  <cp:lastModifiedBy/>
  <dcterms:modified xsi:type="dcterms:W3CDTF">2026-10-11T23:17:15Z</dcterms:modified>
  <cp:revision>98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37</vt:i4>
  </property>
</Properties>
</file>